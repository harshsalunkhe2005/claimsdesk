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1a2292-c2ee-29e1-6b09-efb8d2f50295}">
          <p14:sldIdLst>
            <p14:sldId id="256"/>
          </p14:sldIdLst>
        </p14:section>
        <p14:section name="Problem" id="{eda0fa26-595e-3437-2efa-ccfa7b496306}">
          <p14:sldIdLst>
            <p14:sldId id="257"/>
            <p14:sldId id="258"/>
          </p14:sldIdLst>
        </p14:section>
        <p14:section name="Solution" id="{a32b620a-20be-be5e-a68a-9734241c631f}">
          <p14:sldIdLst>
            <p14:sldId id="259"/>
            <p14:sldId id="260"/>
            <p14:sldId id="261"/>
          </p14:sldIdLst>
        </p14:section>
        <p14:section name="Demonstration" id="{da163610-c58f-ee43-1da9-54b392e8cbce}">
          <p14:sldIdLst>
            <p14:sldId id="262"/>
          </p14:sldIdLst>
        </p14:section>
        <p14:section name="Validation" id="{bd9c42f3-0aaf-3701-83c4-9e498b922302}">
          <p14:sldIdLst>
            <p14:sldId id="263"/>
          </p14:sldIdLst>
        </p14:section>
        <p14:section name="Close" id="{a95fee85-736e-2ad1-3e83-f85f25b020e4}">
          <p14:sldIdLst>
            <p14:sldId id="264"/>
            <p14:sldId id="265"/>
          </p14:sldIdLst>
        </p14:section>
        <p14:section name="Appendix" id="{d66d2236-0d2d-6932-a280-740f94f1a59b}">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mn-lt"/>
              </a:defRPr>
            </a:pPr>
            <a:r>
              <a:rPr sz="1300" b="0" i="0" u="none" strike="noStrike">
                <a:solidFill>
                  <a:srgbClr val="12263A"/>
                </a:solidFill>
                <a:latin typeface="+mn-lt"/>
              </a:rPr>
              <a:t>Accuracy by noise condition (%)</a:t>
            </a:r>
          </a:p>
        </c:rich>
      </c:tx>
      <c:layout/>
      <c:overlay val="0"/>
    </c:title>
    <c:autoTitleDeleted val="0"/>
    <c:plotArea>
      <c:layout/>
      <c:barChart>
        <c:barDir val="bar"/>
        <c:grouping val="clustered"/>
        <c:varyColors val="0"/>
        <c:ser>
          <c:idx val="0"/>
          <c:order val="0"/>
          <c:tx>
            <c:strRef>
              <c:f>Sheet1!$B$1</c:f>
              <c:strCache>
                <c:ptCount val="1"/>
                <c:pt idx="0">
                  <c:v>First run</c:v>
                </c:pt>
              </c:strCache>
            </c:strRef>
          </c:tx>
          <c:spPr>
            <a:solidFill>
              <a:srgbClr val="A9B8C2"/>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Sheet1!$B$2:$B$10</c:f>
              <c:numCache>
                <c:formatCode>General</c:formatCode>
                <c:ptCount val="9"/>
                <c:pt idx="0">
                  <c:v>99.1</c:v>
                </c:pt>
                <c:pt idx="1">
                  <c:v>94.2</c:v>
                </c:pt>
                <c:pt idx="2">
                  <c:v>92.4</c:v>
                </c:pt>
                <c:pt idx="3">
                  <c:v>95.7</c:v>
                </c:pt>
                <c:pt idx="4">
                  <c:v>99.1</c:v>
                </c:pt>
                <c:pt idx="5">
                  <c:v>0</c:v>
                </c:pt>
                <c:pt idx="6">
                  <c:v>92.4</c:v>
                </c:pt>
                <c:pt idx="7">
                  <c:v>0</c:v>
                </c:pt>
                <c:pt idx="8">
                  <c:v>0</c:v>
                </c:pt>
              </c:numCache>
            </c:numRef>
          </c:val>
        </c:ser>
        <c:ser>
          <c:idx val="1"/>
          <c:order val="1"/>
          <c:tx>
            <c:strRef>
              <c:f>Sheet1!$C$1</c:f>
              <c:strCache>
                <c:ptCount val="1"/>
                <c:pt idx="0">
                  <c:v>After fixes</c:v>
                </c:pt>
              </c:strCache>
            </c:strRef>
          </c:tx>
          <c:spPr>
            <a:solidFill>
              <a:srgbClr val="0F766E"/>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99.8</c:v>
                </c:pt>
                <c:pt idx="8">
                  <c:v>94.8</c:v>
                </c:pt>
              </c:numCache>
            </c:numRef>
          </c:val>
        </c:ser>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2263A"/>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0B4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226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five cooperating agents that do the first pass on a health-insurance claim, and send only the risky or uncertain ones to a human. The five circles are the agents we will walk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baseline of about 25 minutes per claim is our assumption, not a measured figure. The point: this is rule-heavy, document-heavy work where mistakes are expensive and every decision has to be explainable. That is the profile where an agent workflow beats a single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happens today; right is our pipeline. The percentage is the share of the 89 synthetic claims settled as approve, partial or reject without a human; escalations and document queries go to a person. Timing is with the deterministic mock model, so it is a pipeline speed, not a language-model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key idea is the dashed arrow: the Critic can send the claim back to the Planner, so this is a loop and not a straight pipe. The Planner keeps cheap claims on a lean plan and adds fraud checks only when risk shows up. If the Critic notices a risk the plan missed, or a wrong calculation, it triggers a re-plan, at most two rounds, then escalates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before the live demo, so the audience knows what they are about to see. This is claim CLM-26-0019. The quick plan skipped the fraud check because the claim looked small and normal. The Critic noticed the price was about 2.4 times the normal cost, so it sent the claim back. After the re-check, the fraud score was 60 out of 100 and the claim went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ladder top to bottom: a hard rule failure always wins, then missing documents, then risk flags, then deductions. Every outcome cites policy clause ids, which is the audit trail. The Critic on the right is a separate validator: it recomputes the payout, checks limits and citations, and asks whether the fraud screening matched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Streamlit app and run these four in order. Claim 0019 is the best one: the Planner chooses a lean plan, the Critic notices the non-room charges are about twice the benchmark, sends it back, and the second round adds the fraud screening and escalates. Then toggle the fault injection on claim 0003 to show the Critic catching a deliberate overpayment.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here. The main set scores 89 of 89, but its labels come from the same design as the rules, so that proves coverage, not real-world accuracy. So we built a harder test: 445 held-out claims, five kinds of noise, and 23 boundary cases. The first run, the grey bars, exposed real weaknesses and we fixed them. The two UNSEEN rows were added after the fixes and were not tuned against. Clinical abbreviations like TKR or k/c/o DM-2 are still a real gap: 23 risky claims slipped through. That motivates a language-model extractor.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first, because the evaluators will ask. The abbreviation gap is the one we know about and measured. The next step is a language-model extractor, which our pluggable model layer already supports, plus a strict mode that trades more manual reviews for fewer missed pre-existing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the complete architecture: agents, tool belt, data stores, model layer and the feedback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331720"/>
            <a:ext cx="73152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1000" dirty="0">
                <a:solidFill>
                  <a:schemeClr val="tx2"/>
                </a:solidFill>
              </a:rPr>
              <a:t>Claims Adjudication Agent  |  CA-3 Agentic AI</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560320"/>
            <a:ext cx="7315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Claims Adjudication Agent</a:t>
            </a:r>
            <a:endParaRPr lang="en-US" sz="4000" dirty="0"/>
          </a:p>
        </p:txBody>
      </p:sp>
      <p:sp>
        <p:nvSpPr>
          <p:cNvPr id="3" name="Text 0"/>
          <p:cNvSpPr/>
          <p:nvPr>
            <p:ph idx="101" type="body" hasCustomPrompt="1"/>
          </p:nvPr>
        </p:nvSpPr>
        <p:spPr>
          <a:xfrm>
            <a:off x="548640" y="2331720"/>
            <a:ext cx="7315200" cy="822960"/>
          </a:xfrm>
          <a:prstGeom prst="rect">
            <a:avLst/>
          </a:prstGeom>
          <a:noFill/>
          <a:ln/>
        </p:spPr>
        <p:txBody>
          <a:bodyPr wrap="square" lIns="0" tIns="0" rIns="0" bIns="0" rtlCol="0" anchor="t"/>
          <a:lstStyle/>
          <a:p>
            <a:pPr indent="0" marL="0">
              <a:buNone/>
            </a:pPr>
            <a:r>
              <a:rPr lang="en-US" sz="1800" dirty="0">
                <a:solidFill>
                  <a:schemeClr val="bg2"/>
                </a:solidFill>
              </a:rPr>
              <a:t>A multi-agent system that adjudicates health-insurance claims, and knows when to ask a human</a:t>
            </a:r>
            <a:endParaRPr lang="en-US" sz="1800" dirty="0"/>
          </a:p>
        </p:txBody>
      </p:sp>
      <p:sp>
        <p:nvSpPr>
          <p:cNvPr id="4" name="Cover node 1"/>
          <p:cNvSpPr/>
          <p:nvPr/>
        </p:nvSpPr>
        <p:spPr>
          <a:xfrm>
            <a:off x="548640" y="3611880"/>
            <a:ext cx="457200" cy="457200"/>
          </a:xfrm>
          <a:prstGeom prst="ellipse">
            <a:avLst/>
          </a:prstGeom>
          <a:solidFill>
            <a:schemeClr val="accent1"/>
          </a:solidFill>
          <a:ln/>
        </p:spPr>
      </p:sp>
      <p:sp>
        <p:nvSpPr>
          <p:cNvPr id="5" name="Cover node 1 number"/>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6" name="Cover node 1 label"/>
          <p:cNvSpPr txBox="1"/>
          <p:nvPr/>
        </p:nvSpPr>
        <p:spPr>
          <a:xfrm>
            <a:off x="1097280"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Planner</a:t>
            </a:r>
            <a:endParaRPr lang="en-US" sz="1400" dirty="0"/>
          </a:p>
        </p:txBody>
      </p:sp>
      <p:sp>
        <p:nvSpPr>
          <p:cNvPr id="7" name="Cover node 2"/>
          <p:cNvSpPr/>
          <p:nvPr/>
        </p:nvSpPr>
        <p:spPr>
          <a:xfrm>
            <a:off x="2176272" y="3611880"/>
            <a:ext cx="457200" cy="457200"/>
          </a:xfrm>
          <a:prstGeom prst="ellipse">
            <a:avLst/>
          </a:prstGeom>
          <a:solidFill>
            <a:schemeClr val="accent1"/>
          </a:solidFill>
          <a:ln/>
        </p:spPr>
      </p:sp>
      <p:sp>
        <p:nvSpPr>
          <p:cNvPr id="8" name="Cover node 2 number"/>
          <p:cNvSpPr txBox="1"/>
          <p:nvPr/>
        </p:nvSpPr>
        <p:spPr>
          <a:xfrm>
            <a:off x="2176272"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9" name="Cover node 2 label"/>
          <p:cNvSpPr txBox="1"/>
          <p:nvPr/>
        </p:nvSpPr>
        <p:spPr>
          <a:xfrm>
            <a:off x="2724912"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Extractor</a:t>
            </a:r>
            <a:endParaRPr lang="en-US" sz="1400" dirty="0"/>
          </a:p>
        </p:txBody>
      </p:sp>
      <p:sp>
        <p:nvSpPr>
          <p:cNvPr id="10" name="Cover node 3"/>
          <p:cNvSpPr/>
          <p:nvPr/>
        </p:nvSpPr>
        <p:spPr>
          <a:xfrm>
            <a:off x="3803904" y="3611880"/>
            <a:ext cx="457200" cy="457200"/>
          </a:xfrm>
          <a:prstGeom prst="ellipse">
            <a:avLst/>
          </a:prstGeom>
          <a:solidFill>
            <a:schemeClr val="accent1"/>
          </a:solidFill>
          <a:ln/>
        </p:spPr>
      </p:sp>
      <p:sp>
        <p:nvSpPr>
          <p:cNvPr id="11" name="Cover node 3 number"/>
          <p:cNvSpPr txBox="1"/>
          <p:nvPr/>
        </p:nvSpPr>
        <p:spPr>
          <a:xfrm>
            <a:off x="3803904"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2" name="Cover node 3 label"/>
          <p:cNvSpPr txBox="1"/>
          <p:nvPr/>
        </p:nvSpPr>
        <p:spPr>
          <a:xfrm>
            <a:off x="4352544"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Executor</a:t>
            </a:r>
            <a:endParaRPr lang="en-US" sz="1400" dirty="0"/>
          </a:p>
        </p:txBody>
      </p:sp>
      <p:sp>
        <p:nvSpPr>
          <p:cNvPr id="13" name="Cover node 4"/>
          <p:cNvSpPr/>
          <p:nvPr/>
        </p:nvSpPr>
        <p:spPr>
          <a:xfrm>
            <a:off x="5431536" y="3611880"/>
            <a:ext cx="457200" cy="457200"/>
          </a:xfrm>
          <a:prstGeom prst="ellipse">
            <a:avLst/>
          </a:prstGeom>
          <a:solidFill>
            <a:schemeClr val="accent2"/>
          </a:solidFill>
          <a:ln/>
        </p:spPr>
      </p:sp>
      <p:sp>
        <p:nvSpPr>
          <p:cNvPr id="14" name="Cover node 4 number"/>
          <p:cNvSpPr txBox="1"/>
          <p:nvPr/>
        </p:nvSpPr>
        <p:spPr>
          <a:xfrm>
            <a:off x="5431536"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15" name="Cover node 4 label"/>
          <p:cNvSpPr txBox="1"/>
          <p:nvPr/>
        </p:nvSpPr>
        <p:spPr>
          <a:xfrm>
            <a:off x="5980176"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Critic</a:t>
            </a:r>
            <a:endParaRPr lang="en-US" sz="1400" dirty="0"/>
          </a:p>
        </p:txBody>
      </p:sp>
      <p:sp>
        <p:nvSpPr>
          <p:cNvPr id="16" name="Cover node 5"/>
          <p:cNvSpPr/>
          <p:nvPr/>
        </p:nvSpPr>
        <p:spPr>
          <a:xfrm>
            <a:off x="7059168" y="3611880"/>
            <a:ext cx="457200" cy="457200"/>
          </a:xfrm>
          <a:prstGeom prst="ellipse">
            <a:avLst/>
          </a:prstGeom>
          <a:solidFill>
            <a:schemeClr val="accent1"/>
          </a:solidFill>
          <a:ln/>
        </p:spPr>
      </p:sp>
      <p:sp>
        <p:nvSpPr>
          <p:cNvPr id="17" name="Cover node 5 number"/>
          <p:cNvSpPr txBox="1"/>
          <p:nvPr/>
        </p:nvSpPr>
        <p:spPr>
          <a:xfrm>
            <a:off x="7059168"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5</a:t>
            </a:r>
            <a:endParaRPr lang="en-US" sz="1600" dirty="0"/>
          </a:p>
        </p:txBody>
      </p:sp>
      <p:sp>
        <p:nvSpPr>
          <p:cNvPr id="18" name="Cover node 5 label"/>
          <p:cNvSpPr txBox="1"/>
          <p:nvPr/>
        </p:nvSpPr>
        <p:spPr>
          <a:xfrm>
            <a:off x="7607808"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Decision</a:t>
            </a:r>
            <a:endParaRPr lang="en-US" sz="1400" dirty="0"/>
          </a:p>
        </p:txBody>
      </p:sp>
      <p:sp>
        <p:nvSpPr>
          <p:cNvPr id="19" name="Cover tag"/>
          <p:cNvSpPr txBox="1"/>
          <p:nvPr/>
        </p:nvSpPr>
        <p:spPr>
          <a:xfrm>
            <a:off x="548640" y="4526280"/>
            <a:ext cx="8046720" cy="274320"/>
          </a:xfrm>
          <a:prstGeom prst="rect">
            <a:avLst/>
          </a:prstGeom>
          <a:noFill/>
          <a:ln/>
        </p:spPr>
        <p:txBody>
          <a:bodyPr wrap="square" lIns="0" tIns="0" rIns="0" bIns="0" rtlCol="0" anchor="t"/>
          <a:lstStyle/>
          <a:p>
            <a:pPr indent="0" marL="0">
              <a:buNone/>
            </a:pPr>
            <a:r>
              <a:rPr lang="en-US" sz="1200" dirty="0">
                <a:solidFill>
                  <a:schemeClr val="bg2"/>
                </a:solidFill>
              </a:rPr>
              <a:t>CA-3  |  Agentic AI  |  Domain-specific proof of concept  |  Healthcare insurance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Manual claim review is slow, uneven and costly</a:t>
            </a:r>
            <a:endParaRPr lang="en-US" sz="2800" dirty="0"/>
          </a:p>
        </p:txBody>
      </p:sp>
      <p:sp>
        <p:nvSpPr>
          <p:cNvPr id="3" name="Stat card 1"/>
          <p:cNvSpPr/>
          <p:nvPr/>
        </p:nvSpPr>
        <p:spPr>
          <a:xfrm>
            <a:off x="457200" y="1371600"/>
            <a:ext cx="3931920" cy="914400"/>
          </a:xfrm>
          <a:prstGeom prst="roundRect">
            <a:avLst>
              <a:gd name="adj" fmla="val 8000"/>
            </a:avLst>
          </a:prstGeom>
          <a:solidFill>
            <a:schemeClr val="bg2"/>
          </a:solidFill>
          <a:ln/>
        </p:spPr>
      </p:sp>
      <p:sp>
        <p:nvSpPr>
          <p:cNvPr id="4" name="Stat 1 value"/>
          <p:cNvSpPr txBox="1"/>
          <p:nvPr/>
        </p:nvSpPr>
        <p:spPr>
          <a:xfrm>
            <a:off x="640080" y="1463040"/>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~25 min</a:t>
            </a:r>
            <a:endParaRPr lang="en-US" sz="3000" dirty="0"/>
          </a:p>
        </p:txBody>
      </p:sp>
      <p:sp>
        <p:nvSpPr>
          <p:cNvPr id="5" name="Stat 1 label"/>
          <p:cNvSpPr txBox="1"/>
          <p:nvPr/>
        </p:nvSpPr>
        <p:spPr>
          <a:xfrm>
            <a:off x="2286000" y="1463040"/>
            <a:ext cx="1965960" cy="731520"/>
          </a:xfrm>
          <a:prstGeom prst="rect">
            <a:avLst/>
          </a:prstGeom>
          <a:noFill/>
          <a:ln/>
        </p:spPr>
        <p:txBody>
          <a:bodyPr wrap="square" lIns="0" tIns="0" rIns="0" bIns="0" rtlCol="0" anchor="ctr"/>
          <a:lstStyle/>
          <a:p>
            <a:pPr indent="0" marL="0">
              <a:buNone/>
            </a:pPr>
            <a:r>
              <a:rPr lang="en-US" sz="1400" dirty="0">
                <a:solidFill>
                  <a:schemeClr val="tx1"/>
                </a:solidFill>
              </a:rPr>
              <a:t>assumed manual first-pass time for one claim</a:t>
            </a:r>
            <a:endParaRPr lang="en-US" sz="1400" dirty="0"/>
          </a:p>
        </p:txBody>
      </p:sp>
      <p:sp>
        <p:nvSpPr>
          <p:cNvPr id="6" name="Stat card 2"/>
          <p:cNvSpPr/>
          <p:nvPr/>
        </p:nvSpPr>
        <p:spPr>
          <a:xfrm>
            <a:off x="457200" y="2450592"/>
            <a:ext cx="3931920" cy="914400"/>
          </a:xfrm>
          <a:prstGeom prst="roundRect">
            <a:avLst>
              <a:gd name="adj" fmla="val 8000"/>
            </a:avLst>
          </a:prstGeom>
          <a:solidFill>
            <a:schemeClr val="bg2"/>
          </a:solidFill>
          <a:ln/>
        </p:spPr>
      </p:sp>
      <p:sp>
        <p:nvSpPr>
          <p:cNvPr id="7" name="Stat 2 value"/>
          <p:cNvSpPr txBox="1"/>
          <p:nvPr/>
        </p:nvSpPr>
        <p:spPr>
          <a:xfrm>
            <a:off x="640080" y="2542032"/>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15</a:t>
            </a:r>
            <a:endParaRPr lang="en-US" sz="3000" dirty="0"/>
          </a:p>
        </p:txBody>
      </p:sp>
      <p:sp>
        <p:nvSpPr>
          <p:cNvPr id="8" name="Stat 2 label"/>
          <p:cNvSpPr txBox="1"/>
          <p:nvPr/>
        </p:nvSpPr>
        <p:spPr>
          <a:xfrm>
            <a:off x="2286000" y="2542032"/>
            <a:ext cx="1965960" cy="731520"/>
          </a:xfrm>
          <a:prstGeom prst="rect">
            <a:avLst/>
          </a:prstGeom>
          <a:noFill/>
          <a:ln/>
        </p:spPr>
        <p:txBody>
          <a:bodyPr wrap="square" lIns="0" tIns="0" rIns="0" bIns="0" rtlCol="0" anchor="ctr"/>
          <a:lstStyle/>
          <a:p>
            <a:pPr indent="0" marL="0">
              <a:buNone/>
            </a:pPr>
            <a:r>
              <a:rPr lang="en-US" sz="1400" dirty="0">
                <a:solidFill>
                  <a:schemeClr val="tx1"/>
                </a:solidFill>
              </a:rPr>
              <a:t>policy clauses an officer applies by hand</a:t>
            </a:r>
            <a:endParaRPr lang="en-US" sz="1400" dirty="0"/>
          </a:p>
        </p:txBody>
      </p:sp>
      <p:sp>
        <p:nvSpPr>
          <p:cNvPr id="9" name="Stat card 3"/>
          <p:cNvSpPr/>
          <p:nvPr/>
        </p:nvSpPr>
        <p:spPr>
          <a:xfrm>
            <a:off x="457200" y="3529584"/>
            <a:ext cx="3931920" cy="914400"/>
          </a:xfrm>
          <a:prstGeom prst="roundRect">
            <a:avLst>
              <a:gd name="adj" fmla="val 8000"/>
            </a:avLst>
          </a:prstGeom>
          <a:solidFill>
            <a:schemeClr val="bg2"/>
          </a:solidFill>
          <a:ln/>
        </p:spPr>
      </p:sp>
      <p:sp>
        <p:nvSpPr>
          <p:cNvPr id="10" name="Stat 3 value"/>
          <p:cNvSpPr txBox="1"/>
          <p:nvPr/>
        </p:nvSpPr>
        <p:spPr>
          <a:xfrm>
            <a:off x="640080" y="3621024"/>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Varies</a:t>
            </a:r>
            <a:endParaRPr lang="en-US" sz="3000" dirty="0"/>
          </a:p>
        </p:txBody>
      </p:sp>
      <p:sp>
        <p:nvSpPr>
          <p:cNvPr id="11" name="Stat 3 label"/>
          <p:cNvSpPr txBox="1"/>
          <p:nvPr/>
        </p:nvSpPr>
        <p:spPr>
          <a:xfrm>
            <a:off x="2286000" y="3621024"/>
            <a:ext cx="1965960" cy="731520"/>
          </a:xfrm>
          <a:prstGeom prst="rect">
            <a:avLst/>
          </a:prstGeom>
          <a:noFill/>
          <a:ln/>
        </p:spPr>
        <p:txBody>
          <a:bodyPr wrap="square" lIns="0" tIns="0" rIns="0" bIns="0" rtlCol="0" anchor="ctr"/>
          <a:lstStyle/>
          <a:p>
            <a:pPr indent="0" marL="0">
              <a:buNone/>
            </a:pPr>
            <a:r>
              <a:rPr lang="en-US" sz="1400" dirty="0">
                <a:solidFill>
                  <a:schemeClr val="tx1"/>
                </a:solidFill>
              </a:rPr>
              <a:t>two officers can decide the same claim differently</a:t>
            </a:r>
            <a:endParaRPr lang="en-US" sz="1400" dirty="0"/>
          </a:p>
        </p:txBody>
      </p:sp>
      <p:sp>
        <p:nvSpPr>
          <p:cNvPr id="12" name="Why agents heading"/>
          <p:cNvSpPr txBox="1"/>
          <p:nvPr/>
        </p:nvSpPr>
        <p:spPr>
          <a:xfrm>
            <a:off x="4754880" y="1371600"/>
            <a:ext cx="393192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Why this domain suits agents</a:t>
            </a:r>
            <a:endParaRPr lang="en-US" sz="2000" dirty="0"/>
          </a:p>
        </p:txBody>
      </p:sp>
      <p:sp>
        <p:nvSpPr>
          <p:cNvPr id="13" name="Badge 1"/>
          <p:cNvSpPr/>
          <p:nvPr/>
        </p:nvSpPr>
        <p:spPr>
          <a:xfrm>
            <a:off x="4754880" y="1956816"/>
            <a:ext cx="384048" cy="384048"/>
          </a:xfrm>
          <a:prstGeom prst="ellipse">
            <a:avLst/>
          </a:prstGeom>
          <a:solidFill>
            <a:schemeClr val="accent1"/>
          </a:solidFill>
          <a:ln/>
        </p:spPr>
      </p:sp>
      <p:sp>
        <p:nvSpPr>
          <p:cNvPr id="14" name="Badge 1 label"/>
          <p:cNvSpPr txBox="1"/>
          <p:nvPr/>
        </p:nvSpPr>
        <p:spPr>
          <a:xfrm>
            <a:off x="4754880" y="195681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5" name="Why 1"/>
          <p:cNvSpPr txBox="1"/>
          <p:nvPr/>
        </p:nvSpPr>
        <p:spPr>
          <a:xfrm>
            <a:off x="5303520" y="1920240"/>
            <a:ext cx="3383280" cy="594360"/>
          </a:xfrm>
          <a:prstGeom prst="rect">
            <a:avLst/>
          </a:prstGeom>
          <a:noFill/>
          <a:ln/>
        </p:spPr>
        <p:txBody>
          <a:bodyPr wrap="square" lIns="0" tIns="0" rIns="0" bIns="0" rtlCol="0" anchor="t"/>
          <a:lstStyle/>
          <a:p>
            <a:pPr indent="0" marL="0">
              <a:buNone/>
            </a:pPr>
            <a:r>
              <a:rPr lang="en-US" sz="1600" b="1" dirty="0">
                <a:solidFill>
                  <a:schemeClr val="tx1"/>
                </a:solidFill>
              </a:rPr>
              <a:t>Rule-heavy</a:t>
            </a:r>
            <a:endParaRPr lang="en-US" sz="1600" dirty="0"/>
          </a:p>
          <a:p>
            <a:pPr indent="0" marL="0">
              <a:buNone/>
            </a:pPr>
            <a:r>
              <a:rPr lang="en-US" sz="1400" dirty="0">
                <a:solidFill>
                  <a:schemeClr val="tx2"/>
                </a:solidFill>
              </a:rPr>
              <a:t>waiting periods, sub-limits, exclusions</a:t>
            </a:r>
            <a:endParaRPr lang="en-US" sz="1600" dirty="0"/>
          </a:p>
        </p:txBody>
      </p:sp>
      <p:sp>
        <p:nvSpPr>
          <p:cNvPr id="16" name="Badge 2"/>
          <p:cNvSpPr/>
          <p:nvPr/>
        </p:nvSpPr>
        <p:spPr>
          <a:xfrm>
            <a:off x="4754880" y="2670048"/>
            <a:ext cx="384048" cy="384048"/>
          </a:xfrm>
          <a:prstGeom prst="ellipse">
            <a:avLst/>
          </a:prstGeom>
          <a:solidFill>
            <a:schemeClr val="accent1"/>
          </a:solidFill>
          <a:ln/>
        </p:spPr>
      </p:sp>
      <p:sp>
        <p:nvSpPr>
          <p:cNvPr id="17" name="Badge 2 label"/>
          <p:cNvSpPr txBox="1"/>
          <p:nvPr/>
        </p:nvSpPr>
        <p:spPr>
          <a:xfrm>
            <a:off x="4754880" y="267004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8" name="Why 2"/>
          <p:cNvSpPr txBox="1"/>
          <p:nvPr/>
        </p:nvSpPr>
        <p:spPr>
          <a:xfrm>
            <a:off x="5303520" y="2633472"/>
            <a:ext cx="3383280" cy="594360"/>
          </a:xfrm>
          <a:prstGeom prst="rect">
            <a:avLst/>
          </a:prstGeom>
          <a:noFill/>
          <a:ln/>
        </p:spPr>
        <p:txBody>
          <a:bodyPr wrap="square" lIns="0" tIns="0" rIns="0" bIns="0" rtlCol="0" anchor="t"/>
          <a:lstStyle/>
          <a:p>
            <a:pPr indent="0" marL="0">
              <a:buNone/>
            </a:pPr>
            <a:r>
              <a:rPr lang="en-US" sz="1600" b="1" dirty="0">
                <a:solidFill>
                  <a:schemeClr val="tx1"/>
                </a:solidFill>
              </a:rPr>
              <a:t>Document-heavy</a:t>
            </a:r>
            <a:endParaRPr lang="en-US" sz="1600" dirty="0"/>
          </a:p>
          <a:p>
            <a:pPr indent="0" marL="0">
              <a:buNone/>
            </a:pPr>
            <a:r>
              <a:rPr lang="en-US" sz="1400" dirty="0">
                <a:solidFill>
                  <a:schemeClr val="tx2"/>
                </a:solidFill>
              </a:rPr>
              <a:t>itemised bills and discharge summaries</a:t>
            </a:r>
            <a:endParaRPr lang="en-US" sz="1600" dirty="0"/>
          </a:p>
        </p:txBody>
      </p:sp>
      <p:sp>
        <p:nvSpPr>
          <p:cNvPr id="19" name="Badge 3"/>
          <p:cNvSpPr/>
          <p:nvPr/>
        </p:nvSpPr>
        <p:spPr>
          <a:xfrm>
            <a:off x="4754880" y="3383280"/>
            <a:ext cx="384048" cy="384048"/>
          </a:xfrm>
          <a:prstGeom prst="ellipse">
            <a:avLst/>
          </a:prstGeom>
          <a:solidFill>
            <a:schemeClr val="accent1"/>
          </a:solidFill>
          <a:ln/>
        </p:spPr>
      </p:sp>
      <p:sp>
        <p:nvSpPr>
          <p:cNvPr id="20" name="Badge 3 label"/>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Why 3"/>
          <p:cNvSpPr txBox="1"/>
          <p:nvPr/>
        </p:nvSpPr>
        <p:spPr>
          <a:xfrm>
            <a:off x="5303520" y="3346704"/>
            <a:ext cx="3383280" cy="594360"/>
          </a:xfrm>
          <a:prstGeom prst="rect">
            <a:avLst/>
          </a:prstGeom>
          <a:noFill/>
          <a:ln/>
        </p:spPr>
        <p:txBody>
          <a:bodyPr wrap="square" lIns="0" tIns="0" rIns="0" bIns="0" rtlCol="0" anchor="t"/>
          <a:lstStyle/>
          <a:p>
            <a:pPr indent="0" marL="0">
              <a:buNone/>
            </a:pPr>
            <a:r>
              <a:rPr lang="en-US" sz="1600" b="1" dirty="0">
                <a:solidFill>
                  <a:schemeClr val="tx1"/>
                </a:solidFill>
              </a:rPr>
              <a:t>Errors are costly</a:t>
            </a:r>
            <a:endParaRPr lang="en-US" sz="1600" dirty="0"/>
          </a:p>
          <a:p>
            <a:pPr indent="0" marL="0">
              <a:buNone/>
            </a:pPr>
            <a:r>
              <a:rPr lang="en-US" sz="1400" dirty="0">
                <a:solidFill>
                  <a:schemeClr val="tx2"/>
                </a:solidFill>
              </a:rPr>
              <a:t>wrong payouts and missed fraud</a:t>
            </a:r>
            <a:endParaRPr lang="en-US" sz="1600" dirty="0"/>
          </a:p>
        </p:txBody>
      </p:sp>
      <p:sp>
        <p:nvSpPr>
          <p:cNvPr id="22" name="Badge 4"/>
          <p:cNvSpPr/>
          <p:nvPr/>
        </p:nvSpPr>
        <p:spPr>
          <a:xfrm>
            <a:off x="4754880" y="4096512"/>
            <a:ext cx="384048" cy="384048"/>
          </a:xfrm>
          <a:prstGeom prst="ellipse">
            <a:avLst/>
          </a:prstGeom>
          <a:solidFill>
            <a:schemeClr val="accent1"/>
          </a:solidFill>
          <a:ln/>
        </p:spPr>
      </p:sp>
      <p:sp>
        <p:nvSpPr>
          <p:cNvPr id="23" name="Badge 4 label"/>
          <p:cNvSpPr txBox="1"/>
          <p:nvPr/>
        </p:nvSpPr>
        <p:spPr>
          <a:xfrm>
            <a:off x="4754880" y="409651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4" name="Why 4"/>
          <p:cNvSpPr txBox="1"/>
          <p:nvPr/>
        </p:nvSpPr>
        <p:spPr>
          <a:xfrm>
            <a:off x="5303520" y="4059936"/>
            <a:ext cx="3383280" cy="594360"/>
          </a:xfrm>
          <a:prstGeom prst="rect">
            <a:avLst/>
          </a:prstGeom>
          <a:noFill/>
          <a:ln/>
        </p:spPr>
        <p:txBody>
          <a:bodyPr wrap="square" lIns="0" tIns="0" rIns="0" bIns="0" rtlCol="0" anchor="t"/>
          <a:lstStyle/>
          <a:p>
            <a:pPr indent="0" marL="0">
              <a:buNone/>
            </a:pPr>
            <a:r>
              <a:rPr lang="en-US" sz="1600" b="1" dirty="0">
                <a:solidFill>
                  <a:schemeClr val="tx1"/>
                </a:solidFill>
              </a:rPr>
              <a:t>Needs an audit trail</a:t>
            </a:r>
            <a:endParaRPr lang="en-US" sz="1600" dirty="0"/>
          </a:p>
          <a:p>
            <a:pPr indent="0" marL="0">
              <a:buNone/>
            </a:pPr>
            <a:r>
              <a:rPr lang="en-US" sz="1400" dirty="0">
                <a:solidFill>
                  <a:schemeClr val="tx2"/>
                </a:solidFill>
              </a:rPr>
              <a:t>every decision cites a clause</a:t>
            </a:r>
            <a:endParaRPr lang="en-US" sz="1600" dirty="0"/>
          </a:p>
        </p:txBody>
      </p:sp>
      <p:sp>
        <p:nvSpPr>
          <p:cNvPr id="25" name="Domain note"/>
          <p:cNvSpPr txBox="1"/>
          <p:nvPr/>
        </p:nvSpPr>
        <p:spPr>
          <a:xfrm>
            <a:off x="457200" y="4572000"/>
            <a:ext cx="7315200" cy="228600"/>
          </a:xfrm>
          <a:prstGeom prst="rect">
            <a:avLst/>
          </a:prstGeom>
          <a:noFill/>
          <a:ln/>
        </p:spPr>
        <p:txBody>
          <a:bodyPr wrap="square" lIns="0" tIns="0" rIns="0" bIns="0" rtlCol="0" anchor="t"/>
          <a:lstStyle/>
          <a:p>
            <a:pPr indent="0" marL="0">
              <a:buNone/>
            </a:pPr>
            <a:r>
              <a:rPr lang="en-US" sz="1200" i="1" dirty="0">
                <a:solidFill>
                  <a:schemeClr val="tx2"/>
                </a:solidFill>
              </a:rPr>
              <a:t>Domain: health insurance claims, in the back office of an insurer or TPA</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Same claim, two ways to process it</a:t>
            </a:r>
            <a:endParaRPr lang="en-US" sz="2800" dirty="0"/>
          </a:p>
        </p:txBody>
      </p:sp>
      <p:sp>
        <p:nvSpPr>
          <p:cNvPr id="3" name="Manual card"/>
          <p:cNvSpPr/>
          <p:nvPr/>
        </p:nvSpPr>
        <p:spPr>
          <a:xfrm>
            <a:off x="457200" y="1234440"/>
            <a:ext cx="3977640" cy="2331720"/>
          </a:xfrm>
          <a:prstGeom prst="roundRect">
            <a:avLst>
              <a:gd name="adj" fmla="val 3137"/>
            </a:avLst>
          </a:prstGeom>
          <a:solidFill>
            <a:schemeClr val="bg2"/>
          </a:solidFill>
          <a:ln/>
        </p:spPr>
      </p:sp>
      <p:sp>
        <p:nvSpPr>
          <p:cNvPr id="4" name="Manual heading"/>
          <p:cNvSpPr txBox="1"/>
          <p:nvPr/>
        </p:nvSpPr>
        <p:spPr>
          <a:xfrm>
            <a:off x="685800" y="1371600"/>
            <a:ext cx="356616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Today: one officer</a:t>
            </a:r>
            <a:endParaRPr lang="en-US" sz="2000" dirty="0"/>
          </a:p>
        </p:txBody>
      </p:sp>
      <p:sp>
        <p:nvSpPr>
          <p:cNvPr id="5" name="Manual steps"/>
          <p:cNvSpPr txBox="1"/>
          <p:nvPr/>
        </p:nvSpPr>
        <p:spPr>
          <a:xfrm>
            <a:off x="685800" y="1828800"/>
            <a:ext cx="35661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Reads the bill and discharge summary</a:t>
            </a:r>
            <a:endParaRPr lang="en-US" sz="1500" dirty="0"/>
          </a:p>
          <a:p>
            <a:pPr marL="342900" indent="-342900">
              <a:spcAft>
                <a:spcPts val="600"/>
              </a:spcAft>
              <a:buSzPct val="100000"/>
              <a:buChar char="•"/>
            </a:pPr>
            <a:r>
              <a:rPr lang="en-US" sz="1500" dirty="0">
                <a:solidFill>
                  <a:schemeClr val="tx1"/>
                </a:solidFill>
              </a:rPr>
              <a:t>Looks up clauses by memory or manual</a:t>
            </a:r>
            <a:endParaRPr lang="en-US" sz="1500" dirty="0"/>
          </a:p>
          <a:p>
            <a:pPr marL="342900" indent="-342900">
              <a:spcAft>
                <a:spcPts val="600"/>
              </a:spcAft>
              <a:buSzPct val="100000"/>
              <a:buChar char="•"/>
            </a:pPr>
            <a:r>
              <a:rPr lang="en-US" sz="1500" dirty="0">
                <a:solidFill>
                  <a:schemeClr val="tx1"/>
                </a:solidFill>
              </a:rPr>
              <a:t>Spots fraud by eye, if at all</a:t>
            </a:r>
            <a:endParaRPr lang="en-US" sz="1500" dirty="0"/>
          </a:p>
          <a:p>
            <a:pPr marL="342900" indent="-342900">
              <a:spcAft>
                <a:spcPts val="600"/>
              </a:spcAft>
              <a:buSzPct val="100000"/>
              <a:buChar char="•"/>
            </a:pPr>
            <a:r>
              <a:rPr lang="en-US" sz="1500" dirty="0">
                <a:solidFill>
                  <a:schemeClr val="tx1"/>
                </a:solidFill>
              </a:rPr>
              <a:t>Decides after hours or days</a:t>
            </a:r>
            <a:endParaRPr lang="en-US" sz="1500" dirty="0"/>
          </a:p>
        </p:txBody>
      </p:sp>
      <p:sp>
        <p:nvSpPr>
          <p:cNvPr id="6" name="Before-after arrow"/>
          <p:cNvSpPr/>
          <p:nvPr/>
        </p:nvSpPr>
        <p:spPr>
          <a:xfrm>
            <a:off x="4526280" y="2194560"/>
            <a:ext cx="457200" cy="457200"/>
          </a:xfrm>
          <a:prstGeom prst="rightArrow">
            <a:avLst/>
          </a:prstGeom>
          <a:solidFill>
            <a:schemeClr val="accent2"/>
          </a:solidFill>
          <a:ln/>
        </p:spPr>
      </p:sp>
      <p:sp>
        <p:nvSpPr>
          <p:cNvPr id="7" name="Agentic card"/>
          <p:cNvSpPr/>
          <p:nvPr/>
        </p:nvSpPr>
        <p:spPr>
          <a:xfrm>
            <a:off x="5074920" y="1234440"/>
            <a:ext cx="3611880" cy="2331720"/>
          </a:xfrm>
          <a:prstGeom prst="roundRect">
            <a:avLst>
              <a:gd name="adj" fmla="val 3137"/>
            </a:avLst>
          </a:prstGeom>
          <a:solidFill>
            <a:schemeClr val="bg2"/>
          </a:solidFill>
          <a:ln/>
        </p:spPr>
      </p:sp>
      <p:sp>
        <p:nvSpPr>
          <p:cNvPr id="8" name="Agentic heading"/>
          <p:cNvSpPr txBox="1"/>
          <p:nvPr/>
        </p:nvSpPr>
        <p:spPr>
          <a:xfrm>
            <a:off x="5303520" y="1371600"/>
            <a:ext cx="320040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Proposed: five agents</a:t>
            </a:r>
            <a:endParaRPr lang="en-US" sz="2000" dirty="0"/>
          </a:p>
        </p:txBody>
      </p:sp>
      <p:sp>
        <p:nvSpPr>
          <p:cNvPr id="9" name="Agentic steps"/>
          <p:cNvSpPr txBox="1"/>
          <p:nvPr/>
        </p:nvSpPr>
        <p:spPr>
          <a:xfrm>
            <a:off x="5303520" y="1828800"/>
            <a:ext cx="320040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Planner picks checks by risk</a:t>
            </a:r>
            <a:endParaRPr lang="en-US" sz="1500" dirty="0"/>
          </a:p>
          <a:p>
            <a:pPr marL="342900" indent="-342900">
              <a:spcAft>
                <a:spcPts val="600"/>
              </a:spcAft>
              <a:buSzPct val="100000"/>
              <a:buChar char="•"/>
            </a:pPr>
            <a:r>
              <a:rPr lang="en-US" sz="1500" dirty="0">
                <a:solidFill>
                  <a:schemeClr val="tx1"/>
                </a:solidFill>
              </a:rPr>
              <a:t>Executor runs tools, cites clauses</a:t>
            </a:r>
            <a:endParaRPr lang="en-US" sz="1500" dirty="0"/>
          </a:p>
          <a:p>
            <a:pPr marL="342900" indent="-342900">
              <a:spcAft>
                <a:spcPts val="600"/>
              </a:spcAft>
              <a:buSzPct val="100000"/>
              <a:buChar char="•"/>
            </a:pPr>
            <a:r>
              <a:rPr lang="en-US" sz="1500" dirty="0">
                <a:solidFill>
                  <a:schemeClr val="tx1"/>
                </a:solidFill>
              </a:rPr>
              <a:t>Critic re-verifies before payout</a:t>
            </a:r>
            <a:endParaRPr lang="en-US" sz="1500" dirty="0"/>
          </a:p>
          <a:p>
            <a:pPr marL="342900" indent="-342900">
              <a:spcAft>
                <a:spcPts val="600"/>
              </a:spcAft>
              <a:buSzPct val="100000"/>
              <a:buChar char="•"/>
            </a:pPr>
            <a:r>
              <a:rPr lang="en-US" sz="1500" dirty="0">
                <a:solidFill>
                  <a:schemeClr val="tx1"/>
                </a:solidFill>
              </a:rPr>
              <a:t>Humans see only the flagged claims</a:t>
            </a:r>
            <a:endParaRPr lang="en-US" sz="1500" dirty="0"/>
          </a:p>
        </p:txBody>
      </p:sp>
      <p:sp>
        <p:nvSpPr>
          <p:cNvPr id="10" name="Result value 1"/>
          <p:cNvSpPr txBox="1"/>
          <p:nvPr/>
        </p:nvSpPr>
        <p:spPr>
          <a:xfrm>
            <a:off x="45720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74%</a:t>
            </a:r>
            <a:endParaRPr lang="en-US" sz="3000" dirty="0"/>
          </a:p>
        </p:txBody>
      </p:sp>
      <p:sp>
        <p:nvSpPr>
          <p:cNvPr id="11" name="Result label 1"/>
          <p:cNvSpPr txBox="1"/>
          <p:nvPr/>
        </p:nvSpPr>
        <p:spPr>
          <a:xfrm>
            <a:off x="173736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settled without a human (main set of 89 claims)</a:t>
            </a:r>
            <a:endParaRPr lang="en-US" sz="1200" dirty="0"/>
          </a:p>
        </p:txBody>
      </p:sp>
      <p:sp>
        <p:nvSpPr>
          <p:cNvPr id="12" name="Result value 2"/>
          <p:cNvSpPr txBox="1"/>
          <p:nvPr/>
        </p:nvSpPr>
        <p:spPr>
          <a:xfrm>
            <a:off x="329184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&lt; 1 s</a:t>
            </a:r>
            <a:endParaRPr lang="en-US" sz="3000" dirty="0"/>
          </a:p>
        </p:txBody>
      </p:sp>
      <p:sp>
        <p:nvSpPr>
          <p:cNvPr id="13" name="Result label 2"/>
          <p:cNvSpPr txBox="1"/>
          <p:nvPr/>
        </p:nvSpPr>
        <p:spPr>
          <a:xfrm>
            <a:off x="457200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per claim with the mock model</a:t>
            </a:r>
            <a:endParaRPr lang="en-US" sz="1200" dirty="0"/>
          </a:p>
        </p:txBody>
      </p:sp>
      <p:sp>
        <p:nvSpPr>
          <p:cNvPr id="14" name="Result value 3"/>
          <p:cNvSpPr txBox="1"/>
          <p:nvPr/>
        </p:nvSpPr>
        <p:spPr>
          <a:xfrm>
            <a:off x="612648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5</a:t>
            </a:r>
            <a:endParaRPr lang="en-US" sz="3000" dirty="0"/>
          </a:p>
        </p:txBody>
      </p:sp>
      <p:sp>
        <p:nvSpPr>
          <p:cNvPr id="15" name="Result label 3"/>
          <p:cNvSpPr txBox="1"/>
          <p:nvPr/>
        </p:nvSpPr>
        <p:spPr>
          <a:xfrm>
            <a:off x="740664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outcomes, from approve to escalate</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Five agents in a loop, not a pipe</a:t>
            </a:r>
            <a:endParaRPr lang="en-US" sz="2800" dirty="0"/>
          </a:p>
        </p:txBody>
      </p:sp>
      <p:sp>
        <p:nvSpPr>
          <p:cNvPr id="3" name="Agent card Planner"/>
          <p:cNvSpPr/>
          <p:nvPr/>
        </p:nvSpPr>
        <p:spPr>
          <a:xfrm>
            <a:off x="457200" y="1280160"/>
            <a:ext cx="1463040" cy="1600200"/>
          </a:xfrm>
          <a:prstGeom prst="roundRect">
            <a:avLst>
              <a:gd name="adj" fmla="val 5000"/>
            </a:avLst>
          </a:prstGeom>
          <a:solidFill>
            <a:schemeClr val="bg2"/>
          </a:solidFill>
          <a:ln/>
        </p:spPr>
      </p:sp>
      <p:sp>
        <p:nvSpPr>
          <p:cNvPr id="4" name="Agent outline Planner"/>
          <p:cNvSpPr/>
          <p:nvPr/>
        </p:nvSpPr>
        <p:spPr>
          <a:xfrm>
            <a:off x="457200" y="1280160"/>
            <a:ext cx="1463040" cy="1600200"/>
          </a:xfrm>
          <a:prstGeom prst="roundRect">
            <a:avLst>
              <a:gd name="adj" fmla="val 5000"/>
            </a:avLst>
          </a:prstGeom>
          <a:ln w="25400">
            <a:solidFill>
              <a:schemeClr val="accent1"/>
            </a:solidFill>
            <a:prstDash val="solid"/>
          </a:ln>
        </p:spPr>
      </p:sp>
      <p:sp>
        <p:nvSpPr>
          <p:cNvPr id="5" name="Badge 1"/>
          <p:cNvSpPr/>
          <p:nvPr/>
        </p:nvSpPr>
        <p:spPr>
          <a:xfrm>
            <a:off x="566928" y="1389888"/>
            <a:ext cx="347472" cy="347472"/>
          </a:xfrm>
          <a:prstGeom prst="ellipse">
            <a:avLst/>
          </a:prstGeom>
          <a:solidFill>
            <a:schemeClr val="accent1"/>
          </a:solidFill>
          <a:ln/>
        </p:spPr>
      </p:sp>
      <p:sp>
        <p:nvSpPr>
          <p:cNvPr id="6" name="Badge 1 label"/>
          <p:cNvSpPr txBox="1"/>
          <p:nvPr/>
        </p:nvSpPr>
        <p:spPr>
          <a:xfrm>
            <a:off x="566928"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7" name="Agent name Planner"/>
          <p:cNvSpPr txBox="1"/>
          <p:nvPr/>
        </p:nvSpPr>
        <p:spPr>
          <a:xfrm>
            <a:off x="969264"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Planner</a:t>
            </a:r>
            <a:endParaRPr lang="en-US" sz="1600" dirty="0"/>
          </a:p>
        </p:txBody>
      </p:sp>
      <p:sp>
        <p:nvSpPr>
          <p:cNvPr id="8" name="Agent role Planner"/>
          <p:cNvSpPr txBox="1"/>
          <p:nvPr/>
        </p:nvSpPr>
        <p:spPr>
          <a:xfrm>
            <a:off x="566928"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Chooses a lean or deep plan from claim risk</a:t>
            </a:r>
            <a:endParaRPr lang="en-US" sz="1300" dirty="0"/>
          </a:p>
        </p:txBody>
      </p:sp>
      <p:sp>
        <p:nvSpPr>
          <p:cNvPr id="9" name="Flow 1"/>
          <p:cNvSpPr/>
          <p:nvPr/>
        </p:nvSpPr>
        <p:spPr>
          <a:xfrm>
            <a:off x="1920240" y="2075688"/>
            <a:ext cx="219456" cy="0"/>
          </a:xfrm>
          <a:prstGeom prst="line">
            <a:avLst/>
          </a:prstGeom>
          <a:noFill/>
          <a:ln w="28575">
            <a:solidFill>
              <a:schemeClr val="accent1"/>
            </a:solidFill>
            <a:prstDash val="solid"/>
            <a:tailEnd type="triangle"/>
          </a:ln>
        </p:spPr>
      </p:sp>
      <p:sp>
        <p:nvSpPr>
          <p:cNvPr id="10" name="Agent card Extractor"/>
          <p:cNvSpPr/>
          <p:nvPr/>
        </p:nvSpPr>
        <p:spPr>
          <a:xfrm>
            <a:off x="2139696" y="1280160"/>
            <a:ext cx="1463040" cy="1600200"/>
          </a:xfrm>
          <a:prstGeom prst="roundRect">
            <a:avLst>
              <a:gd name="adj" fmla="val 5000"/>
            </a:avLst>
          </a:prstGeom>
          <a:solidFill>
            <a:schemeClr val="bg2"/>
          </a:solidFill>
          <a:ln/>
        </p:spPr>
      </p:sp>
      <p:sp>
        <p:nvSpPr>
          <p:cNvPr id="11" name="Agent outline Extractor"/>
          <p:cNvSpPr/>
          <p:nvPr/>
        </p:nvSpPr>
        <p:spPr>
          <a:xfrm>
            <a:off x="2139696" y="1280160"/>
            <a:ext cx="1463040" cy="1600200"/>
          </a:xfrm>
          <a:prstGeom prst="roundRect">
            <a:avLst>
              <a:gd name="adj" fmla="val 5000"/>
            </a:avLst>
          </a:prstGeom>
          <a:ln w="25400">
            <a:solidFill>
              <a:schemeClr val="accent1"/>
            </a:solidFill>
            <a:prstDash val="solid"/>
          </a:ln>
        </p:spPr>
      </p:sp>
      <p:sp>
        <p:nvSpPr>
          <p:cNvPr id="12" name="Badge 2"/>
          <p:cNvSpPr/>
          <p:nvPr/>
        </p:nvSpPr>
        <p:spPr>
          <a:xfrm>
            <a:off x="2249424" y="1389888"/>
            <a:ext cx="347472" cy="347472"/>
          </a:xfrm>
          <a:prstGeom prst="ellipse">
            <a:avLst/>
          </a:prstGeom>
          <a:solidFill>
            <a:schemeClr val="accent1"/>
          </a:solidFill>
          <a:ln/>
        </p:spPr>
      </p:sp>
      <p:sp>
        <p:nvSpPr>
          <p:cNvPr id="13" name="Badge 2 label"/>
          <p:cNvSpPr txBox="1"/>
          <p:nvPr/>
        </p:nvSpPr>
        <p:spPr>
          <a:xfrm>
            <a:off x="2249424"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4" name="Agent name Extractor"/>
          <p:cNvSpPr txBox="1"/>
          <p:nvPr/>
        </p:nvSpPr>
        <p:spPr>
          <a:xfrm>
            <a:off x="2651760"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Extractor</a:t>
            </a:r>
            <a:endParaRPr lang="en-US" sz="1600" dirty="0"/>
          </a:p>
        </p:txBody>
      </p:sp>
      <p:sp>
        <p:nvSpPr>
          <p:cNvPr id="15" name="Agent role Extractor"/>
          <p:cNvSpPr txBox="1"/>
          <p:nvPr/>
        </p:nvSpPr>
        <p:spPr>
          <a:xfrm>
            <a:off x="2249424"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Reads the discharge summary</a:t>
            </a:r>
            <a:endParaRPr lang="en-US" sz="1300" dirty="0"/>
          </a:p>
        </p:txBody>
      </p:sp>
      <p:sp>
        <p:nvSpPr>
          <p:cNvPr id="16" name="Flow 2"/>
          <p:cNvSpPr/>
          <p:nvPr/>
        </p:nvSpPr>
        <p:spPr>
          <a:xfrm>
            <a:off x="3602736" y="2075688"/>
            <a:ext cx="219456" cy="0"/>
          </a:xfrm>
          <a:prstGeom prst="line">
            <a:avLst/>
          </a:prstGeom>
          <a:noFill/>
          <a:ln w="28575">
            <a:solidFill>
              <a:schemeClr val="accent1"/>
            </a:solidFill>
            <a:prstDash val="solid"/>
            <a:tailEnd type="triangle"/>
          </a:ln>
        </p:spPr>
      </p:sp>
      <p:sp>
        <p:nvSpPr>
          <p:cNvPr id="17" name="Agent card Executor"/>
          <p:cNvSpPr/>
          <p:nvPr/>
        </p:nvSpPr>
        <p:spPr>
          <a:xfrm>
            <a:off x="3822192" y="1280160"/>
            <a:ext cx="1463040" cy="1600200"/>
          </a:xfrm>
          <a:prstGeom prst="roundRect">
            <a:avLst>
              <a:gd name="adj" fmla="val 5000"/>
            </a:avLst>
          </a:prstGeom>
          <a:solidFill>
            <a:schemeClr val="bg2"/>
          </a:solidFill>
          <a:ln/>
        </p:spPr>
      </p:sp>
      <p:sp>
        <p:nvSpPr>
          <p:cNvPr id="18" name="Agent outline Executor"/>
          <p:cNvSpPr/>
          <p:nvPr/>
        </p:nvSpPr>
        <p:spPr>
          <a:xfrm>
            <a:off x="3822192" y="1280160"/>
            <a:ext cx="1463040" cy="1600200"/>
          </a:xfrm>
          <a:prstGeom prst="roundRect">
            <a:avLst>
              <a:gd name="adj" fmla="val 5000"/>
            </a:avLst>
          </a:prstGeom>
          <a:ln w="25400">
            <a:solidFill>
              <a:schemeClr val="accent1"/>
            </a:solidFill>
            <a:prstDash val="solid"/>
          </a:ln>
        </p:spPr>
      </p:sp>
      <p:sp>
        <p:nvSpPr>
          <p:cNvPr id="19" name="Badge 3"/>
          <p:cNvSpPr/>
          <p:nvPr/>
        </p:nvSpPr>
        <p:spPr>
          <a:xfrm>
            <a:off x="3931920" y="1389888"/>
            <a:ext cx="347472" cy="347472"/>
          </a:xfrm>
          <a:prstGeom prst="ellipse">
            <a:avLst/>
          </a:prstGeom>
          <a:solidFill>
            <a:schemeClr val="accent1"/>
          </a:solidFill>
          <a:ln/>
        </p:spPr>
      </p:sp>
      <p:sp>
        <p:nvSpPr>
          <p:cNvPr id="20" name="Badge 3 label"/>
          <p:cNvSpPr txBox="1"/>
          <p:nvPr/>
        </p:nvSpPr>
        <p:spPr>
          <a:xfrm>
            <a:off x="3931920"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Agent name Executor"/>
          <p:cNvSpPr txBox="1"/>
          <p:nvPr/>
        </p:nvSpPr>
        <p:spPr>
          <a:xfrm>
            <a:off x="4334256"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Executor</a:t>
            </a:r>
            <a:endParaRPr lang="en-US" sz="1600" dirty="0"/>
          </a:p>
        </p:txBody>
      </p:sp>
      <p:sp>
        <p:nvSpPr>
          <p:cNvPr id="22" name="Agent role Executor"/>
          <p:cNvSpPr txBox="1"/>
          <p:nvPr/>
        </p:nvSpPr>
        <p:spPr>
          <a:xfrm>
            <a:off x="3931920"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Runs checks with Python tools</a:t>
            </a:r>
            <a:endParaRPr lang="en-US" sz="1300" dirty="0"/>
          </a:p>
        </p:txBody>
      </p:sp>
      <p:sp>
        <p:nvSpPr>
          <p:cNvPr id="23" name="Flow 3"/>
          <p:cNvSpPr/>
          <p:nvPr/>
        </p:nvSpPr>
        <p:spPr>
          <a:xfrm>
            <a:off x="5285232" y="2075688"/>
            <a:ext cx="219456" cy="0"/>
          </a:xfrm>
          <a:prstGeom prst="line">
            <a:avLst/>
          </a:prstGeom>
          <a:noFill/>
          <a:ln w="28575">
            <a:solidFill>
              <a:schemeClr val="accent1"/>
            </a:solidFill>
            <a:prstDash val="solid"/>
            <a:tailEnd type="triangle"/>
          </a:ln>
        </p:spPr>
      </p:sp>
      <p:sp>
        <p:nvSpPr>
          <p:cNvPr id="24" name="Agent card Critic"/>
          <p:cNvSpPr/>
          <p:nvPr/>
        </p:nvSpPr>
        <p:spPr>
          <a:xfrm>
            <a:off x="5504688" y="1280160"/>
            <a:ext cx="1463040" cy="1600200"/>
          </a:xfrm>
          <a:prstGeom prst="roundRect">
            <a:avLst>
              <a:gd name="adj" fmla="val 5000"/>
            </a:avLst>
          </a:prstGeom>
          <a:solidFill>
            <a:schemeClr val="bg2"/>
          </a:solidFill>
          <a:ln/>
        </p:spPr>
      </p:sp>
      <p:sp>
        <p:nvSpPr>
          <p:cNvPr id="25" name="Agent outline Critic"/>
          <p:cNvSpPr/>
          <p:nvPr/>
        </p:nvSpPr>
        <p:spPr>
          <a:xfrm>
            <a:off x="5504688" y="1280160"/>
            <a:ext cx="1463040" cy="1600200"/>
          </a:xfrm>
          <a:prstGeom prst="roundRect">
            <a:avLst>
              <a:gd name="adj" fmla="val 5000"/>
            </a:avLst>
          </a:prstGeom>
          <a:ln w="25400">
            <a:solidFill>
              <a:schemeClr val="accent2"/>
            </a:solidFill>
            <a:prstDash val="solid"/>
          </a:ln>
        </p:spPr>
      </p:sp>
      <p:sp>
        <p:nvSpPr>
          <p:cNvPr id="26" name="Badge 4"/>
          <p:cNvSpPr/>
          <p:nvPr/>
        </p:nvSpPr>
        <p:spPr>
          <a:xfrm>
            <a:off x="5614416" y="1389888"/>
            <a:ext cx="347472" cy="347472"/>
          </a:xfrm>
          <a:prstGeom prst="ellipse">
            <a:avLst/>
          </a:prstGeom>
          <a:solidFill>
            <a:schemeClr val="accent2"/>
          </a:solidFill>
          <a:ln/>
        </p:spPr>
      </p:sp>
      <p:sp>
        <p:nvSpPr>
          <p:cNvPr id="27" name="Badge 4 label"/>
          <p:cNvSpPr txBox="1"/>
          <p:nvPr/>
        </p:nvSpPr>
        <p:spPr>
          <a:xfrm>
            <a:off x="5614416"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8" name="Agent name Critic"/>
          <p:cNvSpPr txBox="1"/>
          <p:nvPr/>
        </p:nvSpPr>
        <p:spPr>
          <a:xfrm>
            <a:off x="6016752"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Critic</a:t>
            </a:r>
            <a:endParaRPr lang="en-US" sz="1600" dirty="0"/>
          </a:p>
        </p:txBody>
      </p:sp>
      <p:sp>
        <p:nvSpPr>
          <p:cNvPr id="29" name="Agent role Critic"/>
          <p:cNvSpPr txBox="1"/>
          <p:nvPr/>
        </p:nvSpPr>
        <p:spPr>
          <a:xfrm>
            <a:off x="5614416"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Re-verifies maths, limits, fraud cover</a:t>
            </a:r>
            <a:endParaRPr lang="en-US" sz="1300" dirty="0"/>
          </a:p>
        </p:txBody>
      </p:sp>
      <p:sp>
        <p:nvSpPr>
          <p:cNvPr id="30" name="Flow 4"/>
          <p:cNvSpPr/>
          <p:nvPr/>
        </p:nvSpPr>
        <p:spPr>
          <a:xfrm>
            <a:off x="6967728" y="2075688"/>
            <a:ext cx="219456" cy="0"/>
          </a:xfrm>
          <a:prstGeom prst="line">
            <a:avLst/>
          </a:prstGeom>
          <a:noFill/>
          <a:ln w="28575">
            <a:solidFill>
              <a:schemeClr val="accent1"/>
            </a:solidFill>
            <a:prstDash val="solid"/>
            <a:tailEnd type="triangle"/>
          </a:ln>
        </p:spPr>
      </p:sp>
      <p:sp>
        <p:nvSpPr>
          <p:cNvPr id="31" name="Agent card Decision"/>
          <p:cNvSpPr/>
          <p:nvPr/>
        </p:nvSpPr>
        <p:spPr>
          <a:xfrm>
            <a:off x="7187184" y="1280160"/>
            <a:ext cx="1463040" cy="1600200"/>
          </a:xfrm>
          <a:prstGeom prst="roundRect">
            <a:avLst>
              <a:gd name="adj" fmla="val 5000"/>
            </a:avLst>
          </a:prstGeom>
          <a:solidFill>
            <a:schemeClr val="bg2"/>
          </a:solidFill>
          <a:ln/>
        </p:spPr>
      </p:sp>
      <p:sp>
        <p:nvSpPr>
          <p:cNvPr id="32" name="Agent outline Decision"/>
          <p:cNvSpPr/>
          <p:nvPr/>
        </p:nvSpPr>
        <p:spPr>
          <a:xfrm>
            <a:off x="7187184" y="1280160"/>
            <a:ext cx="1463040" cy="1600200"/>
          </a:xfrm>
          <a:prstGeom prst="roundRect">
            <a:avLst>
              <a:gd name="adj" fmla="val 5000"/>
            </a:avLst>
          </a:prstGeom>
          <a:ln w="25400">
            <a:solidFill>
              <a:schemeClr val="accent1"/>
            </a:solidFill>
            <a:prstDash val="solid"/>
          </a:ln>
        </p:spPr>
      </p:sp>
      <p:sp>
        <p:nvSpPr>
          <p:cNvPr id="33" name="Badge 5"/>
          <p:cNvSpPr/>
          <p:nvPr/>
        </p:nvSpPr>
        <p:spPr>
          <a:xfrm>
            <a:off x="7296912" y="1389888"/>
            <a:ext cx="347472" cy="347472"/>
          </a:xfrm>
          <a:prstGeom prst="ellipse">
            <a:avLst/>
          </a:prstGeom>
          <a:solidFill>
            <a:schemeClr val="accent1"/>
          </a:solidFill>
          <a:ln/>
        </p:spPr>
      </p:sp>
      <p:sp>
        <p:nvSpPr>
          <p:cNvPr id="34" name="Badge 5 label"/>
          <p:cNvSpPr txBox="1"/>
          <p:nvPr/>
        </p:nvSpPr>
        <p:spPr>
          <a:xfrm>
            <a:off x="7296912"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35" name="Agent name Decision"/>
          <p:cNvSpPr txBox="1"/>
          <p:nvPr/>
        </p:nvSpPr>
        <p:spPr>
          <a:xfrm>
            <a:off x="7699248"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Decision</a:t>
            </a:r>
            <a:endParaRPr lang="en-US" sz="1600" dirty="0"/>
          </a:p>
        </p:txBody>
      </p:sp>
      <p:sp>
        <p:nvSpPr>
          <p:cNvPr id="36" name="Agent role Decision"/>
          <p:cNvSpPr txBox="1"/>
          <p:nvPr/>
        </p:nvSpPr>
        <p:spPr>
          <a:xfrm>
            <a:off x="7296912"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Applies precedence, cites clauses</a:t>
            </a:r>
            <a:endParaRPr lang="en-US" sz="1300" dirty="0"/>
          </a:p>
        </p:txBody>
      </p:sp>
      <p:sp>
        <p:nvSpPr>
          <p:cNvPr id="37" name="Loop down"/>
          <p:cNvSpPr/>
          <p:nvPr/>
        </p:nvSpPr>
        <p:spPr>
          <a:xfrm>
            <a:off x="6236208" y="2880360"/>
            <a:ext cx="0" cy="365760"/>
          </a:xfrm>
          <a:prstGeom prst="line">
            <a:avLst/>
          </a:prstGeom>
          <a:noFill/>
          <a:ln w="28575">
            <a:solidFill>
              <a:schemeClr val="accent2"/>
            </a:solidFill>
            <a:prstDash val="dash"/>
          </a:ln>
        </p:spPr>
      </p:sp>
      <p:sp>
        <p:nvSpPr>
          <p:cNvPr id="38" name="Loop across"/>
          <p:cNvSpPr/>
          <p:nvPr/>
        </p:nvSpPr>
        <p:spPr>
          <a:xfrm>
            <a:off x="1188720" y="3246120"/>
            <a:ext cx="5047488" cy="0"/>
          </a:xfrm>
          <a:prstGeom prst="line">
            <a:avLst/>
          </a:prstGeom>
          <a:noFill/>
          <a:ln w="28575">
            <a:solidFill>
              <a:schemeClr val="accent2"/>
            </a:solidFill>
            <a:prstDash val="dash"/>
          </a:ln>
        </p:spPr>
      </p:sp>
      <p:sp>
        <p:nvSpPr>
          <p:cNvPr id="39" name="Loop up"/>
          <p:cNvSpPr/>
          <p:nvPr/>
        </p:nvSpPr>
        <p:spPr>
          <a:xfrm flipV="1">
            <a:off x="1188720" y="2880360"/>
            <a:ext cx="0" cy="365760"/>
          </a:xfrm>
          <a:prstGeom prst="line">
            <a:avLst/>
          </a:prstGeom>
          <a:noFill/>
          <a:ln w="28575">
            <a:solidFill>
              <a:schemeClr val="accent2"/>
            </a:solidFill>
            <a:prstDash val="dash"/>
            <a:tailEnd type="triangle"/>
          </a:ln>
        </p:spPr>
      </p:sp>
      <p:sp>
        <p:nvSpPr>
          <p:cNvPr id="40" name="Replan pill"/>
          <p:cNvSpPr/>
          <p:nvPr/>
        </p:nvSpPr>
        <p:spPr>
          <a:xfrm>
            <a:off x="2148840" y="3063240"/>
            <a:ext cx="3931920" cy="365760"/>
          </a:xfrm>
          <a:prstGeom prst="roundRect">
            <a:avLst>
              <a:gd name="adj" fmla="val 50000"/>
            </a:avLst>
          </a:prstGeom>
          <a:solidFill>
            <a:schemeClr val="bg1"/>
          </a:solidFill>
          <a:ln w="19050">
            <a:solidFill>
              <a:schemeClr val="accent2"/>
            </a:solidFill>
            <a:prstDash val="solid"/>
          </a:ln>
        </p:spPr>
      </p:sp>
      <p:sp>
        <p:nvSpPr>
          <p:cNvPr id="41" name="Replan label"/>
          <p:cNvSpPr txBox="1"/>
          <p:nvPr/>
        </p:nvSpPr>
        <p:spPr>
          <a:xfrm>
            <a:off x="2148840" y="3063240"/>
            <a:ext cx="3931920" cy="365760"/>
          </a:xfrm>
          <a:prstGeom prst="rect">
            <a:avLst/>
          </a:prstGeom>
          <a:noFill/>
          <a:ln/>
        </p:spPr>
        <p:txBody>
          <a:bodyPr wrap="square" lIns="0" tIns="0" rIns="0" bIns="0" rtlCol="0" anchor="ctr"/>
          <a:lstStyle/>
          <a:p>
            <a:pPr algn="ctr" indent="0" marL="0">
              <a:buNone/>
            </a:pPr>
            <a:r>
              <a:rPr lang="en-US" sz="1300" b="1" dirty="0">
                <a:solidFill>
                  <a:schemeClr val="accent2"/>
                </a:solidFill>
              </a:rPr>
              <a:t>REPLAN: add checks or recompute, max 2 rounds</a:t>
            </a:r>
            <a:endParaRPr lang="en-US" sz="1300" dirty="0"/>
          </a:p>
        </p:txBody>
      </p:sp>
      <p:sp>
        <p:nvSpPr>
          <p:cNvPr id="42" name="Tool belt"/>
          <p:cNvSpPr/>
          <p:nvPr/>
        </p:nvSpPr>
        <p:spPr>
          <a:xfrm>
            <a:off x="457200" y="3657600"/>
            <a:ext cx="8229600" cy="868680"/>
          </a:xfrm>
          <a:prstGeom prst="roundRect">
            <a:avLst>
              <a:gd name="adj" fmla="val 8421"/>
            </a:avLst>
          </a:prstGeom>
          <a:solidFill>
            <a:schemeClr val="bg2"/>
          </a:solidFill>
          <a:ln/>
        </p:spPr>
      </p:sp>
      <p:sp>
        <p:nvSpPr>
          <p:cNvPr id="43" name="Tool belt text"/>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200" b="1" dirty="0">
                <a:solidFill>
                  <a:schemeClr val="tx2"/>
                </a:solidFill>
              </a:rPr>
              <a:t>Executor tools:  </a:t>
            </a:r>
            <a:pPr indent="0" marL="0">
              <a:buNone/>
            </a:pPr>
            <a:r>
              <a:rPr lang="en-US" sz="1200" dirty="0">
                <a:solidFill>
                  <a:schemeClr val="tx1"/>
                </a:solidFill>
              </a:rPr>
              <a:t>documents, policy status, waiting periods, exclusions, duplicates, filing window, procedure match, bill integrity, high value, tariff check, fraud score, payout</a:t>
            </a:r>
            <a:endParaRPr lang="en-US" sz="1200" dirty="0"/>
          </a:p>
          <a:p>
            <a:pPr indent="0" marL="0">
              <a:buNone/>
            </a:pPr>
            <a:r>
              <a:rPr lang="en-US" sz="1200" dirty="0">
                <a:solidFill>
                  <a:schemeClr val="tx2"/>
                </a:solidFill>
              </a:rPr>
              <a:t>Plus a pluggable model (mock or local Ollama) and synthetic policy, member and hospital stores.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One claim, followed in plain English</a:t>
            </a:r>
            <a:endParaRPr lang="en-US" sz="2800" dirty="0"/>
          </a:p>
        </p:txBody>
      </p:sp>
      <p:sp>
        <p:nvSpPr>
          <p:cNvPr id="3" name="Walk row 1"/>
          <p:cNvSpPr/>
          <p:nvPr/>
        </p:nvSpPr>
        <p:spPr>
          <a:xfrm>
            <a:off x="457200" y="1188720"/>
            <a:ext cx="6035040" cy="530352"/>
          </a:xfrm>
          <a:prstGeom prst="roundRect">
            <a:avLst>
              <a:gd name="adj" fmla="val 13793"/>
            </a:avLst>
          </a:prstGeom>
          <a:solidFill>
            <a:schemeClr val="bg2"/>
          </a:solidFill>
          <a:ln/>
        </p:spPr>
      </p:sp>
      <p:sp>
        <p:nvSpPr>
          <p:cNvPr id="4" name="Badge 1"/>
          <p:cNvSpPr/>
          <p:nvPr/>
        </p:nvSpPr>
        <p:spPr>
          <a:xfrm>
            <a:off x="566928" y="1261872"/>
            <a:ext cx="384048" cy="384048"/>
          </a:xfrm>
          <a:prstGeom prst="ellipse">
            <a:avLst/>
          </a:prstGeom>
          <a:solidFill>
            <a:schemeClr val="accent1"/>
          </a:solidFill>
          <a:ln/>
        </p:spPr>
      </p:sp>
      <p:sp>
        <p:nvSpPr>
          <p:cNvPr id="5" name="Badge 1 label"/>
          <p:cNvSpPr txBox="1"/>
          <p:nvPr/>
        </p:nvSpPr>
        <p:spPr>
          <a:xfrm>
            <a:off x="566928" y="126187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6" name="Walk agent 1"/>
          <p:cNvSpPr txBox="1"/>
          <p:nvPr/>
        </p:nvSpPr>
        <p:spPr>
          <a:xfrm>
            <a:off x="1097280" y="1188720"/>
            <a:ext cx="1143000" cy="530352"/>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Planner</a:t>
            </a:r>
            <a:endParaRPr lang="en-US" sz="1500" dirty="0"/>
          </a:p>
        </p:txBody>
      </p:sp>
      <p:sp>
        <p:nvSpPr>
          <p:cNvPr id="7" name="Walk text 1"/>
          <p:cNvSpPr txBox="1"/>
          <p:nvPr/>
        </p:nvSpPr>
        <p:spPr>
          <a:xfrm>
            <a:off x="2286000" y="1188720"/>
            <a:ext cx="4114800" cy="530352"/>
          </a:xfrm>
          <a:prstGeom prst="rect">
            <a:avLst/>
          </a:prstGeom>
          <a:noFill/>
          <a:ln/>
        </p:spPr>
        <p:txBody>
          <a:bodyPr wrap="square" lIns="0" tIns="0" rIns="0" bIns="0" rtlCol="0" anchor="ctr"/>
          <a:lstStyle/>
          <a:p>
            <a:pPr indent="0" marL="0">
              <a:buNone/>
            </a:pPr>
            <a:r>
              <a:rPr lang="en-US" sz="1300" dirty="0">
                <a:solidFill>
                  <a:schemeClr val="tx1"/>
                </a:solidFill>
              </a:rPr>
              <a:t>Small claim at a normal hospital, so it picks a quick check.</a:t>
            </a:r>
            <a:endParaRPr lang="en-US" sz="1300" dirty="0"/>
          </a:p>
        </p:txBody>
      </p:sp>
      <p:sp>
        <p:nvSpPr>
          <p:cNvPr id="8" name="Walk row 2"/>
          <p:cNvSpPr/>
          <p:nvPr/>
        </p:nvSpPr>
        <p:spPr>
          <a:xfrm>
            <a:off x="457200" y="1828800"/>
            <a:ext cx="6035040" cy="530352"/>
          </a:xfrm>
          <a:prstGeom prst="roundRect">
            <a:avLst>
              <a:gd name="adj" fmla="val 13793"/>
            </a:avLst>
          </a:prstGeom>
          <a:solidFill>
            <a:schemeClr val="bg2"/>
          </a:solidFill>
          <a:ln/>
        </p:spPr>
      </p:sp>
      <p:sp>
        <p:nvSpPr>
          <p:cNvPr id="9" name="Badge 2"/>
          <p:cNvSpPr/>
          <p:nvPr/>
        </p:nvSpPr>
        <p:spPr>
          <a:xfrm>
            <a:off x="566928" y="1901952"/>
            <a:ext cx="384048" cy="384048"/>
          </a:xfrm>
          <a:prstGeom prst="ellipse">
            <a:avLst/>
          </a:prstGeom>
          <a:solidFill>
            <a:schemeClr val="accent1"/>
          </a:solidFill>
          <a:ln/>
        </p:spPr>
      </p:sp>
      <p:sp>
        <p:nvSpPr>
          <p:cNvPr id="10" name="Badge 2 label"/>
          <p:cNvSpPr txBox="1"/>
          <p:nvPr/>
        </p:nvSpPr>
        <p:spPr>
          <a:xfrm>
            <a:off x="566928" y="190195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1" name="Walk agent 2"/>
          <p:cNvSpPr txBox="1"/>
          <p:nvPr/>
        </p:nvSpPr>
        <p:spPr>
          <a:xfrm>
            <a:off x="1097280" y="1828800"/>
            <a:ext cx="1143000" cy="530352"/>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Extractor</a:t>
            </a:r>
            <a:endParaRPr lang="en-US" sz="1500" dirty="0"/>
          </a:p>
        </p:txBody>
      </p:sp>
      <p:sp>
        <p:nvSpPr>
          <p:cNvPr id="12" name="Walk text 2"/>
          <p:cNvSpPr txBox="1"/>
          <p:nvPr/>
        </p:nvSpPr>
        <p:spPr>
          <a:xfrm>
            <a:off x="2286000" y="1828800"/>
            <a:ext cx="4114800" cy="530352"/>
          </a:xfrm>
          <a:prstGeom prst="rect">
            <a:avLst/>
          </a:prstGeom>
          <a:noFill/>
          <a:ln/>
        </p:spPr>
        <p:txBody>
          <a:bodyPr wrap="square" lIns="0" tIns="0" rIns="0" bIns="0" rtlCol="0" anchor="ctr"/>
          <a:lstStyle/>
          <a:p>
            <a:pPr indent="0" marL="0">
              <a:buNone/>
            </a:pPr>
            <a:r>
              <a:rPr lang="en-US" sz="1300" dirty="0">
                <a:solidFill>
                  <a:schemeClr val="tx1"/>
                </a:solidFill>
              </a:rPr>
              <a:t>Reads the discharge summary: cataract surgery.</a:t>
            </a:r>
            <a:endParaRPr lang="en-US" sz="1300" dirty="0"/>
          </a:p>
        </p:txBody>
      </p:sp>
      <p:sp>
        <p:nvSpPr>
          <p:cNvPr id="13" name="Walk row 3"/>
          <p:cNvSpPr/>
          <p:nvPr/>
        </p:nvSpPr>
        <p:spPr>
          <a:xfrm>
            <a:off x="457200" y="2468880"/>
            <a:ext cx="6035040" cy="530352"/>
          </a:xfrm>
          <a:prstGeom prst="roundRect">
            <a:avLst>
              <a:gd name="adj" fmla="val 13793"/>
            </a:avLst>
          </a:prstGeom>
          <a:solidFill>
            <a:schemeClr val="bg2"/>
          </a:solidFill>
          <a:ln/>
        </p:spPr>
      </p:sp>
      <p:sp>
        <p:nvSpPr>
          <p:cNvPr id="14" name="Badge 3"/>
          <p:cNvSpPr/>
          <p:nvPr/>
        </p:nvSpPr>
        <p:spPr>
          <a:xfrm>
            <a:off x="566928" y="2542032"/>
            <a:ext cx="384048" cy="384048"/>
          </a:xfrm>
          <a:prstGeom prst="ellipse">
            <a:avLst/>
          </a:prstGeom>
          <a:solidFill>
            <a:schemeClr val="accent1"/>
          </a:solidFill>
          <a:ln/>
        </p:spPr>
      </p:sp>
      <p:sp>
        <p:nvSpPr>
          <p:cNvPr id="15" name="Badge 3 label"/>
          <p:cNvSpPr txBox="1"/>
          <p:nvPr/>
        </p:nvSpPr>
        <p:spPr>
          <a:xfrm>
            <a:off x="566928" y="254203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16" name="Walk agent 3"/>
          <p:cNvSpPr txBox="1"/>
          <p:nvPr/>
        </p:nvSpPr>
        <p:spPr>
          <a:xfrm>
            <a:off x="1097280" y="2468880"/>
            <a:ext cx="1143000" cy="530352"/>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Executor</a:t>
            </a:r>
            <a:endParaRPr lang="en-US" sz="1500" dirty="0"/>
          </a:p>
        </p:txBody>
      </p:sp>
      <p:sp>
        <p:nvSpPr>
          <p:cNvPr id="17" name="Walk text 3"/>
          <p:cNvSpPr txBox="1"/>
          <p:nvPr/>
        </p:nvSpPr>
        <p:spPr>
          <a:xfrm>
            <a:off x="2286000" y="2468880"/>
            <a:ext cx="4114800" cy="530352"/>
          </a:xfrm>
          <a:prstGeom prst="rect">
            <a:avLst/>
          </a:prstGeom>
          <a:noFill/>
          <a:ln/>
        </p:spPr>
        <p:txBody>
          <a:bodyPr wrap="square" lIns="0" tIns="0" rIns="0" bIns="0" rtlCol="0" anchor="ctr"/>
          <a:lstStyle/>
          <a:p>
            <a:pPr indent="0" marL="0">
              <a:buNone/>
            </a:pPr>
            <a:r>
              <a:rPr lang="en-US" sz="1300" dirty="0">
                <a:solidFill>
                  <a:schemeClr val="tx1"/>
                </a:solidFill>
              </a:rPr>
              <a:t>Runs the checks. The price is 2.4 times the normal cost.</a:t>
            </a:r>
            <a:endParaRPr lang="en-US" sz="1300" dirty="0"/>
          </a:p>
        </p:txBody>
      </p:sp>
      <p:sp>
        <p:nvSpPr>
          <p:cNvPr id="18" name="Walk row 4"/>
          <p:cNvSpPr/>
          <p:nvPr/>
        </p:nvSpPr>
        <p:spPr>
          <a:xfrm>
            <a:off x="457200" y="3108960"/>
            <a:ext cx="6035040" cy="530352"/>
          </a:xfrm>
          <a:prstGeom prst="roundRect">
            <a:avLst>
              <a:gd name="adj" fmla="val 13793"/>
            </a:avLst>
          </a:prstGeom>
          <a:solidFill>
            <a:schemeClr val="bg2"/>
          </a:solidFill>
          <a:ln/>
        </p:spPr>
      </p:sp>
      <p:sp>
        <p:nvSpPr>
          <p:cNvPr id="19" name="Badge 4"/>
          <p:cNvSpPr/>
          <p:nvPr/>
        </p:nvSpPr>
        <p:spPr>
          <a:xfrm>
            <a:off x="566928" y="3182112"/>
            <a:ext cx="384048" cy="384048"/>
          </a:xfrm>
          <a:prstGeom prst="ellipse">
            <a:avLst/>
          </a:prstGeom>
          <a:solidFill>
            <a:schemeClr val="accent2"/>
          </a:solidFill>
          <a:ln/>
        </p:spPr>
      </p:sp>
      <p:sp>
        <p:nvSpPr>
          <p:cNvPr id="20" name="Badge 4 label"/>
          <p:cNvSpPr txBox="1"/>
          <p:nvPr/>
        </p:nvSpPr>
        <p:spPr>
          <a:xfrm>
            <a:off x="566928" y="318211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1" name="Walk agent 4"/>
          <p:cNvSpPr txBox="1"/>
          <p:nvPr/>
        </p:nvSpPr>
        <p:spPr>
          <a:xfrm>
            <a:off x="1097280" y="3108960"/>
            <a:ext cx="1143000" cy="530352"/>
          </a:xfrm>
          <a:prstGeom prst="rect">
            <a:avLst/>
          </a:prstGeom>
          <a:noFill/>
          <a:ln/>
        </p:spPr>
        <p:txBody>
          <a:bodyPr wrap="square" lIns="0" tIns="0" rIns="0" bIns="0" rtlCol="0" anchor="ctr"/>
          <a:lstStyle/>
          <a:p>
            <a:pPr indent="0" marL="0">
              <a:buNone/>
            </a:pPr>
            <a:r>
              <a:rPr lang="en-US" sz="1500" b="1" dirty="0">
                <a:solidFill>
                  <a:schemeClr val="accent2"/>
                </a:solidFill>
                <a:latin typeface="Cambria" pitchFamily="34" charset="0"/>
                <a:ea typeface="Cambria" pitchFamily="34" charset="-122"/>
                <a:cs typeface="Cambria" pitchFamily="34" charset="-120"/>
              </a:rPr>
              <a:t>Critic</a:t>
            </a:r>
            <a:endParaRPr lang="en-US" sz="1500" dirty="0"/>
          </a:p>
        </p:txBody>
      </p:sp>
      <p:sp>
        <p:nvSpPr>
          <p:cNvPr id="22" name="Walk text 4"/>
          <p:cNvSpPr txBox="1"/>
          <p:nvPr/>
        </p:nvSpPr>
        <p:spPr>
          <a:xfrm>
            <a:off x="2286000" y="3108960"/>
            <a:ext cx="4114800" cy="530352"/>
          </a:xfrm>
          <a:prstGeom prst="rect">
            <a:avLst/>
          </a:prstGeom>
          <a:noFill/>
          <a:ln/>
        </p:spPr>
        <p:txBody>
          <a:bodyPr wrap="square" lIns="0" tIns="0" rIns="0" bIns="0" rtlCol="0" anchor="ctr"/>
          <a:lstStyle/>
          <a:p>
            <a:pPr indent="0" marL="0">
              <a:buNone/>
            </a:pPr>
            <a:r>
              <a:rPr lang="en-US" sz="1300" dirty="0">
                <a:solidFill>
                  <a:schemeClr val="tx1"/>
                </a:solidFill>
              </a:rPr>
              <a:t>A price that high needed a fraud check the quick plan skipped. Sends it back.</a:t>
            </a:r>
            <a:endParaRPr lang="en-US" sz="1300" dirty="0"/>
          </a:p>
        </p:txBody>
      </p:sp>
      <p:sp>
        <p:nvSpPr>
          <p:cNvPr id="23" name="Walk row 5"/>
          <p:cNvSpPr/>
          <p:nvPr/>
        </p:nvSpPr>
        <p:spPr>
          <a:xfrm>
            <a:off x="457200" y="3749040"/>
            <a:ext cx="6035040" cy="530352"/>
          </a:xfrm>
          <a:prstGeom prst="roundRect">
            <a:avLst>
              <a:gd name="adj" fmla="val 13793"/>
            </a:avLst>
          </a:prstGeom>
          <a:solidFill>
            <a:schemeClr val="bg2"/>
          </a:solidFill>
          <a:ln/>
        </p:spPr>
      </p:sp>
      <p:sp>
        <p:nvSpPr>
          <p:cNvPr id="24" name="Badge 5"/>
          <p:cNvSpPr/>
          <p:nvPr/>
        </p:nvSpPr>
        <p:spPr>
          <a:xfrm>
            <a:off x="566928" y="3822192"/>
            <a:ext cx="384048" cy="384048"/>
          </a:xfrm>
          <a:prstGeom prst="ellipse">
            <a:avLst/>
          </a:prstGeom>
          <a:solidFill>
            <a:schemeClr val="accent1"/>
          </a:solidFill>
          <a:ln/>
        </p:spPr>
      </p:sp>
      <p:sp>
        <p:nvSpPr>
          <p:cNvPr id="25" name="Badge 5 label"/>
          <p:cNvSpPr txBox="1"/>
          <p:nvPr/>
        </p:nvSpPr>
        <p:spPr>
          <a:xfrm>
            <a:off x="566928" y="382219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26" name="Walk agent 5"/>
          <p:cNvSpPr txBox="1"/>
          <p:nvPr/>
        </p:nvSpPr>
        <p:spPr>
          <a:xfrm>
            <a:off x="1097280" y="3749040"/>
            <a:ext cx="1143000" cy="530352"/>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Decision</a:t>
            </a:r>
            <a:endParaRPr lang="en-US" sz="1500" dirty="0"/>
          </a:p>
        </p:txBody>
      </p:sp>
      <p:sp>
        <p:nvSpPr>
          <p:cNvPr id="27" name="Walk text 5"/>
          <p:cNvSpPr txBox="1"/>
          <p:nvPr/>
        </p:nvSpPr>
        <p:spPr>
          <a:xfrm>
            <a:off x="2286000" y="3749040"/>
            <a:ext cx="4114800" cy="530352"/>
          </a:xfrm>
          <a:prstGeom prst="rect">
            <a:avLst/>
          </a:prstGeom>
          <a:noFill/>
          <a:ln/>
        </p:spPr>
        <p:txBody>
          <a:bodyPr wrap="square" lIns="0" tIns="0" rIns="0" bIns="0" rtlCol="0" anchor="ctr"/>
          <a:lstStyle/>
          <a:p>
            <a:pPr indent="0" marL="0">
              <a:buNone/>
            </a:pPr>
            <a:r>
              <a:rPr lang="en-US" sz="1300" dirty="0">
                <a:solidFill>
                  <a:schemeClr val="tx1"/>
                </a:solidFill>
              </a:rPr>
              <a:t>Fraud check scores 60 out of 100, so a human officer decides.</a:t>
            </a:r>
            <a:endParaRPr lang="en-US" sz="1300" dirty="0"/>
          </a:p>
        </p:txBody>
      </p:sp>
      <p:sp>
        <p:nvSpPr>
          <p:cNvPr id="28" name="Walk callout"/>
          <p:cNvSpPr/>
          <p:nvPr/>
        </p:nvSpPr>
        <p:spPr>
          <a:xfrm>
            <a:off x="6766560" y="1188720"/>
            <a:ext cx="1920240" cy="3090672"/>
          </a:xfrm>
          <a:prstGeom prst="roundRect">
            <a:avLst>
              <a:gd name="adj" fmla="val 3810"/>
            </a:avLst>
          </a:prstGeom>
          <a:solidFill>
            <a:schemeClr val="tx1"/>
          </a:solidFill>
          <a:ln/>
        </p:spPr>
      </p:sp>
      <p:sp>
        <p:nvSpPr>
          <p:cNvPr id="29" name="Walk callout title"/>
          <p:cNvSpPr txBox="1"/>
          <p:nvPr/>
        </p:nvSpPr>
        <p:spPr>
          <a:xfrm>
            <a:off x="6949440" y="1325880"/>
            <a:ext cx="160020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Why it matters</a:t>
            </a:r>
            <a:endParaRPr lang="en-US" sz="1600" dirty="0"/>
          </a:p>
        </p:txBody>
      </p:sp>
      <p:sp>
        <p:nvSpPr>
          <p:cNvPr id="30" name="Walk callout text"/>
          <p:cNvSpPr txBox="1"/>
          <p:nvPr/>
        </p:nvSpPr>
        <p:spPr>
          <a:xfrm>
            <a:off x="6949440" y="1783080"/>
            <a:ext cx="1600200" cy="2377440"/>
          </a:xfrm>
          <a:prstGeom prst="rect">
            <a:avLst/>
          </a:prstGeom>
          <a:noFill/>
          <a:ln/>
        </p:spPr>
        <p:txBody>
          <a:bodyPr wrap="square" lIns="0" tIns="0" rIns="0" bIns="0" rtlCol="0" anchor="t"/>
          <a:lstStyle/>
          <a:p>
            <a:pPr indent="0" marL="0">
              <a:buNone/>
            </a:pPr>
            <a:r>
              <a:rPr lang="en-US" sz="1400" dirty="0">
                <a:solidFill>
                  <a:schemeClr val="bg2"/>
                </a:solidFill>
              </a:rPr>
              <a:t>A single pass would have paid this claim. The Critic caught the gap, so a bad bill went to a person instead of out the door.</a:t>
            </a:r>
            <a:endParaRPr lang="en-US" sz="1400" dirty="0"/>
          </a:p>
        </p:txBody>
      </p:sp>
      <p:sp>
        <p:nvSpPr>
          <p:cNvPr id="31" name="Walk claim id"/>
          <p:cNvSpPr txBox="1"/>
          <p:nvPr/>
        </p:nvSpPr>
        <p:spPr>
          <a:xfrm>
            <a:off x="457200" y="4434840"/>
            <a:ext cx="6035040" cy="274320"/>
          </a:xfrm>
          <a:prstGeom prst="rect">
            <a:avLst/>
          </a:prstGeom>
          <a:noFill/>
          <a:ln/>
        </p:spPr>
        <p:txBody>
          <a:bodyPr wrap="square" lIns="0" tIns="0" rIns="0" bIns="0" rtlCol="0" anchor="t"/>
          <a:lstStyle/>
          <a:p>
            <a:pPr indent="0" marL="0">
              <a:buNone/>
            </a:pPr>
            <a:r>
              <a:rPr lang="en-US" sz="1200" i="1" dirty="0">
                <a:solidFill>
                  <a:schemeClr val="tx2"/>
                </a:solidFill>
              </a:rPr>
              <a:t>Claim CLM-26-0019, in the demo</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Decisions follow a fixed precedence</a:t>
            </a:r>
            <a:endParaRPr lang="en-US" sz="2800" dirty="0"/>
          </a:p>
        </p:txBody>
      </p:sp>
      <p:sp>
        <p:nvSpPr>
          <p:cNvPr id="3" name="Outcome REJECT"/>
          <p:cNvSpPr/>
          <p:nvPr/>
        </p:nvSpPr>
        <p:spPr>
          <a:xfrm>
            <a:off x="457200" y="1234440"/>
            <a:ext cx="1234440" cy="530352"/>
          </a:xfrm>
          <a:prstGeom prst="roundRect">
            <a:avLst>
              <a:gd name="adj" fmla="val 13793"/>
            </a:avLst>
          </a:prstGeom>
          <a:solidFill>
            <a:schemeClr val="accent5"/>
          </a:solidFill>
          <a:ln/>
        </p:spPr>
      </p:sp>
      <p:sp>
        <p:nvSpPr>
          <p:cNvPr id="4" name="Outcome REJECT label"/>
          <p:cNvSpPr txBox="1"/>
          <p:nvPr/>
        </p:nvSpPr>
        <p:spPr>
          <a:xfrm>
            <a:off x="457200" y="123444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1  REJECT</a:t>
            </a:r>
            <a:endParaRPr lang="en-US" sz="1300" dirty="0"/>
          </a:p>
        </p:txBody>
      </p:sp>
      <p:sp>
        <p:nvSpPr>
          <p:cNvPr id="5" name="Outcome REJECT text"/>
          <p:cNvSpPr txBox="1"/>
          <p:nvPr/>
        </p:nvSpPr>
        <p:spPr>
          <a:xfrm>
            <a:off x="1828800" y="1234440"/>
            <a:ext cx="3246120" cy="530352"/>
          </a:xfrm>
          <a:prstGeom prst="rect">
            <a:avLst/>
          </a:prstGeom>
          <a:noFill/>
          <a:ln/>
        </p:spPr>
        <p:txBody>
          <a:bodyPr wrap="square" lIns="0" tIns="0" rIns="0" bIns="0" rtlCol="0" anchor="ctr"/>
          <a:lstStyle/>
          <a:p>
            <a:pPr indent="0" marL="0">
              <a:buNone/>
            </a:pPr>
            <a:r>
              <a:rPr lang="en-US" sz="1300" dirty="0">
                <a:solidFill>
                  <a:schemeClr val="tx1"/>
                </a:solidFill>
              </a:rPr>
              <a:t>hard rule broken: waiting period, exclusion, lapsed policy, duplicate</a:t>
            </a:r>
            <a:endParaRPr lang="en-US" sz="1300" dirty="0"/>
          </a:p>
        </p:txBody>
      </p:sp>
      <p:sp>
        <p:nvSpPr>
          <p:cNvPr id="6" name="Outcome QUERY"/>
          <p:cNvSpPr/>
          <p:nvPr/>
        </p:nvSpPr>
        <p:spPr>
          <a:xfrm>
            <a:off x="457200" y="1874520"/>
            <a:ext cx="1234440" cy="530352"/>
          </a:xfrm>
          <a:prstGeom prst="roundRect">
            <a:avLst>
              <a:gd name="adj" fmla="val 13793"/>
            </a:avLst>
          </a:prstGeom>
          <a:solidFill>
            <a:schemeClr val="accent3"/>
          </a:solidFill>
          <a:ln/>
        </p:spPr>
      </p:sp>
      <p:sp>
        <p:nvSpPr>
          <p:cNvPr id="7" name="Outcome QUERY label"/>
          <p:cNvSpPr txBox="1"/>
          <p:nvPr/>
        </p:nvSpPr>
        <p:spPr>
          <a:xfrm>
            <a:off x="457200" y="187452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2  QUERY</a:t>
            </a:r>
            <a:endParaRPr lang="en-US" sz="1300" dirty="0"/>
          </a:p>
        </p:txBody>
      </p:sp>
      <p:sp>
        <p:nvSpPr>
          <p:cNvPr id="8" name="Outcome QUERY text"/>
          <p:cNvSpPr txBox="1"/>
          <p:nvPr/>
        </p:nvSpPr>
        <p:spPr>
          <a:xfrm>
            <a:off x="1828800" y="1874520"/>
            <a:ext cx="3246120" cy="530352"/>
          </a:xfrm>
          <a:prstGeom prst="rect">
            <a:avLst/>
          </a:prstGeom>
          <a:noFill/>
          <a:ln/>
        </p:spPr>
        <p:txBody>
          <a:bodyPr wrap="square" lIns="0" tIns="0" rIns="0" bIns="0" rtlCol="0" anchor="ctr"/>
          <a:lstStyle/>
          <a:p>
            <a:pPr indent="0" marL="0">
              <a:buNone/>
            </a:pPr>
            <a:r>
              <a:rPr lang="en-US" sz="1300" dirty="0">
                <a:solidFill>
                  <a:schemeClr val="tx1"/>
                </a:solidFill>
              </a:rPr>
              <a:t>mandatory document missing or unreadable</a:t>
            </a:r>
            <a:endParaRPr lang="en-US" sz="1300" dirty="0"/>
          </a:p>
        </p:txBody>
      </p:sp>
      <p:sp>
        <p:nvSpPr>
          <p:cNvPr id="9" name="Outcome ESCALATE"/>
          <p:cNvSpPr/>
          <p:nvPr/>
        </p:nvSpPr>
        <p:spPr>
          <a:xfrm>
            <a:off x="457200" y="2514600"/>
            <a:ext cx="1234440" cy="530352"/>
          </a:xfrm>
          <a:prstGeom prst="roundRect">
            <a:avLst>
              <a:gd name="adj" fmla="val 13793"/>
            </a:avLst>
          </a:prstGeom>
          <a:solidFill>
            <a:schemeClr val="accent2"/>
          </a:solidFill>
          <a:ln/>
        </p:spPr>
      </p:sp>
      <p:sp>
        <p:nvSpPr>
          <p:cNvPr id="10" name="Outcome ESCALATE label"/>
          <p:cNvSpPr txBox="1"/>
          <p:nvPr/>
        </p:nvSpPr>
        <p:spPr>
          <a:xfrm>
            <a:off x="457200" y="251460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3  ESCALATE</a:t>
            </a:r>
            <a:endParaRPr lang="en-US" sz="1300" dirty="0"/>
          </a:p>
        </p:txBody>
      </p:sp>
      <p:sp>
        <p:nvSpPr>
          <p:cNvPr id="11" name="Outcome ESCALATE text"/>
          <p:cNvSpPr txBox="1"/>
          <p:nvPr/>
        </p:nvSpPr>
        <p:spPr>
          <a:xfrm>
            <a:off x="1828800" y="2514600"/>
            <a:ext cx="3246120" cy="530352"/>
          </a:xfrm>
          <a:prstGeom prst="rect">
            <a:avLst/>
          </a:prstGeom>
          <a:noFill/>
          <a:ln/>
        </p:spPr>
        <p:txBody>
          <a:bodyPr wrap="square" lIns="0" tIns="0" rIns="0" bIns="0" rtlCol="0" anchor="ctr"/>
          <a:lstStyle/>
          <a:p>
            <a:pPr indent="0" marL="0">
              <a:buNone/>
            </a:pPr>
            <a:r>
              <a:rPr lang="en-US" sz="1300" dirty="0">
                <a:solidFill>
                  <a:schemeClr val="tx1"/>
                </a:solidFill>
              </a:rPr>
              <a:t>fraud score 60+, tampered bill, mismatch, high value, late filing</a:t>
            </a:r>
            <a:endParaRPr lang="en-US" sz="1300" dirty="0"/>
          </a:p>
        </p:txBody>
      </p:sp>
      <p:sp>
        <p:nvSpPr>
          <p:cNvPr id="12" name="Outcome PARTIAL"/>
          <p:cNvSpPr/>
          <p:nvPr/>
        </p:nvSpPr>
        <p:spPr>
          <a:xfrm>
            <a:off x="457200" y="3154680"/>
            <a:ext cx="1234440" cy="530352"/>
          </a:xfrm>
          <a:prstGeom prst="roundRect">
            <a:avLst>
              <a:gd name="adj" fmla="val 13793"/>
            </a:avLst>
          </a:prstGeom>
          <a:solidFill>
            <a:schemeClr val="accent6"/>
          </a:solidFill>
          <a:ln/>
        </p:spPr>
      </p:sp>
      <p:sp>
        <p:nvSpPr>
          <p:cNvPr id="13" name="Outcome PARTIAL label"/>
          <p:cNvSpPr txBox="1"/>
          <p:nvPr/>
        </p:nvSpPr>
        <p:spPr>
          <a:xfrm>
            <a:off x="457200" y="315468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4  PARTIAL</a:t>
            </a:r>
            <a:endParaRPr lang="en-US" sz="1300" dirty="0"/>
          </a:p>
        </p:txBody>
      </p:sp>
      <p:sp>
        <p:nvSpPr>
          <p:cNvPr id="14" name="Outcome PARTIAL text"/>
          <p:cNvSpPr txBox="1"/>
          <p:nvPr/>
        </p:nvSpPr>
        <p:spPr>
          <a:xfrm>
            <a:off x="1828800" y="3154680"/>
            <a:ext cx="3246120" cy="530352"/>
          </a:xfrm>
          <a:prstGeom prst="rect">
            <a:avLst/>
          </a:prstGeom>
          <a:noFill/>
          <a:ln/>
        </p:spPr>
        <p:txBody>
          <a:bodyPr wrap="square" lIns="0" tIns="0" rIns="0" bIns="0" rtlCol="0" anchor="ctr"/>
          <a:lstStyle/>
          <a:p>
            <a:pPr indent="0" marL="0">
              <a:buNone/>
            </a:pPr>
            <a:r>
              <a:rPr lang="en-US" sz="1300" dirty="0">
                <a:solidFill>
                  <a:schemeClr val="tx1"/>
                </a:solidFill>
              </a:rPr>
              <a:t>deductions apply: room rent, sub-limit, co-pay, non-medical</a:t>
            </a:r>
            <a:endParaRPr lang="en-US" sz="1300" dirty="0"/>
          </a:p>
        </p:txBody>
      </p:sp>
      <p:sp>
        <p:nvSpPr>
          <p:cNvPr id="15" name="Outcome APPROVE"/>
          <p:cNvSpPr/>
          <p:nvPr/>
        </p:nvSpPr>
        <p:spPr>
          <a:xfrm>
            <a:off x="457200" y="3794760"/>
            <a:ext cx="1234440" cy="530352"/>
          </a:xfrm>
          <a:prstGeom prst="roundRect">
            <a:avLst>
              <a:gd name="adj" fmla="val 13793"/>
            </a:avLst>
          </a:prstGeom>
          <a:solidFill>
            <a:schemeClr val="accent4"/>
          </a:solidFill>
          <a:ln/>
        </p:spPr>
      </p:sp>
      <p:sp>
        <p:nvSpPr>
          <p:cNvPr id="16" name="Outcome APPROVE label"/>
          <p:cNvSpPr txBox="1"/>
          <p:nvPr/>
        </p:nvSpPr>
        <p:spPr>
          <a:xfrm>
            <a:off x="457200" y="379476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5  APPROVE</a:t>
            </a:r>
            <a:endParaRPr lang="en-US" sz="1300" dirty="0"/>
          </a:p>
        </p:txBody>
      </p:sp>
      <p:sp>
        <p:nvSpPr>
          <p:cNvPr id="17" name="Outcome APPROVE text"/>
          <p:cNvSpPr txBox="1"/>
          <p:nvPr/>
        </p:nvSpPr>
        <p:spPr>
          <a:xfrm>
            <a:off x="1828800" y="3794760"/>
            <a:ext cx="3246120" cy="530352"/>
          </a:xfrm>
          <a:prstGeom prst="rect">
            <a:avLst/>
          </a:prstGeom>
          <a:noFill/>
          <a:ln/>
        </p:spPr>
        <p:txBody>
          <a:bodyPr wrap="square" lIns="0" tIns="0" rIns="0" bIns="0" rtlCol="0" anchor="ctr"/>
          <a:lstStyle/>
          <a:p>
            <a:pPr indent="0" marL="0">
              <a:buNone/>
            </a:pPr>
            <a:r>
              <a:rPr lang="en-US" sz="1300" dirty="0">
                <a:solidFill>
                  <a:schemeClr val="tx1"/>
                </a:solidFill>
              </a:rPr>
              <a:t>every check passed, no deduction</a:t>
            </a:r>
            <a:endParaRPr lang="en-US" sz="1300" dirty="0"/>
          </a:p>
        </p:txBody>
      </p:sp>
      <p:sp>
        <p:nvSpPr>
          <p:cNvPr id="18" name="Critic card"/>
          <p:cNvSpPr/>
          <p:nvPr/>
        </p:nvSpPr>
        <p:spPr>
          <a:xfrm>
            <a:off x="5349240" y="1234440"/>
            <a:ext cx="3337560" cy="3108960"/>
          </a:xfrm>
          <a:prstGeom prst="roundRect">
            <a:avLst>
              <a:gd name="adj" fmla="val 2353"/>
            </a:avLst>
          </a:prstGeom>
          <a:solidFill>
            <a:schemeClr val="bg2"/>
          </a:solidFill>
          <a:ln/>
        </p:spPr>
      </p:sp>
      <p:sp>
        <p:nvSpPr>
          <p:cNvPr id="19" name="Badge C"/>
          <p:cNvSpPr/>
          <p:nvPr/>
        </p:nvSpPr>
        <p:spPr>
          <a:xfrm>
            <a:off x="5532120" y="1371600"/>
            <a:ext cx="365760" cy="365760"/>
          </a:xfrm>
          <a:prstGeom prst="ellipse">
            <a:avLst/>
          </a:prstGeom>
          <a:solidFill>
            <a:schemeClr val="accent2"/>
          </a:solidFill>
          <a:ln/>
        </p:spPr>
      </p:sp>
      <p:sp>
        <p:nvSpPr>
          <p:cNvPr id="20" name="Badge C label"/>
          <p:cNvSpPr txBox="1"/>
          <p:nvPr/>
        </p:nvSpPr>
        <p:spPr>
          <a:xfrm>
            <a:off x="553212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a:t>
            </a:r>
            <a:endParaRPr lang="en-US" sz="1500" dirty="0"/>
          </a:p>
        </p:txBody>
      </p:sp>
      <p:sp>
        <p:nvSpPr>
          <p:cNvPr id="21" name="Critic heading"/>
          <p:cNvSpPr txBox="1"/>
          <p:nvPr/>
        </p:nvSpPr>
        <p:spPr>
          <a:xfrm>
            <a:off x="5989320" y="1371600"/>
            <a:ext cx="26517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Critic re-checks</a:t>
            </a:r>
            <a:endParaRPr lang="en-US" sz="1700" dirty="0"/>
          </a:p>
        </p:txBody>
      </p:sp>
      <p:sp>
        <p:nvSpPr>
          <p:cNvPr id="22" name="Critic checks"/>
          <p:cNvSpPr txBox="1"/>
          <p:nvPr/>
        </p:nvSpPr>
        <p:spPr>
          <a:xfrm>
            <a:off x="5532120" y="1920240"/>
            <a:ext cx="3017520" cy="18288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Payout reconciles with deductions</a:t>
            </a:r>
            <a:endParaRPr lang="en-US" sz="1400" dirty="0"/>
          </a:p>
          <a:p>
            <a:pPr marL="342900" indent="-342900">
              <a:spcAft>
                <a:spcPts val="500"/>
              </a:spcAft>
              <a:buSzPct val="100000"/>
              <a:buChar char="•"/>
            </a:pPr>
            <a:r>
              <a:rPr lang="en-US" sz="1400" dirty="0">
                <a:solidFill>
                  <a:schemeClr val="tx1"/>
                </a:solidFill>
              </a:rPr>
              <a:t>Within claim and sum insured</a:t>
            </a:r>
            <a:endParaRPr lang="en-US" sz="1400" dirty="0"/>
          </a:p>
          <a:p>
            <a:pPr marL="342900" indent="-342900">
              <a:spcAft>
                <a:spcPts val="500"/>
              </a:spcAft>
              <a:buSzPct val="100000"/>
              <a:buChar char="•"/>
            </a:pPr>
            <a:r>
              <a:rPr lang="en-US" sz="1400" dirty="0">
                <a:solidFill>
                  <a:schemeClr val="tx1"/>
                </a:solidFill>
              </a:rPr>
              <a:t>Every finding cites a real clause</a:t>
            </a:r>
            <a:endParaRPr lang="en-US" sz="1400" dirty="0"/>
          </a:p>
          <a:p>
            <a:pPr marL="342900" indent="-342900">
              <a:spcAft>
                <a:spcPts val="500"/>
              </a:spcAft>
              <a:buSzPct val="100000"/>
              <a:buChar char="•"/>
            </a:pPr>
            <a:r>
              <a:rPr lang="en-US" sz="1400" dirty="0">
                <a:solidFill>
                  <a:schemeClr val="tx1"/>
                </a:solidFill>
              </a:rPr>
              <a:t>Extraction agrees with the form</a:t>
            </a:r>
            <a:endParaRPr lang="en-US" sz="1400" dirty="0"/>
          </a:p>
          <a:p>
            <a:pPr marL="342900" indent="-342900">
              <a:spcAft>
                <a:spcPts val="500"/>
              </a:spcAft>
              <a:buSzPct val="100000"/>
              <a:buChar char="•"/>
            </a:pPr>
            <a:r>
              <a:rPr lang="en-US" sz="1400" dirty="0">
                <a:solidFill>
                  <a:schemeClr val="tx1"/>
                </a:solidFill>
              </a:rPr>
              <a:t>Fraud screening matched the risk</a:t>
            </a:r>
            <a:endParaRPr lang="en-US" sz="1400" dirty="0"/>
          </a:p>
        </p:txBody>
      </p:sp>
      <p:sp>
        <p:nvSpPr>
          <p:cNvPr id="23" name="Critic outcome"/>
          <p:cNvSpPr txBox="1"/>
          <p:nvPr/>
        </p:nvSpPr>
        <p:spPr>
          <a:xfrm>
            <a:off x="5532120" y="3657600"/>
            <a:ext cx="3017520" cy="594360"/>
          </a:xfrm>
          <a:prstGeom prst="rect">
            <a:avLst/>
          </a:prstGeom>
          <a:noFill/>
          <a:ln/>
        </p:spPr>
        <p:txBody>
          <a:bodyPr wrap="square" lIns="0" tIns="0" rIns="0" bIns="0" rtlCol="0" anchor="t"/>
          <a:lstStyle/>
          <a:p>
            <a:pPr indent="0" marL="0">
              <a:buNone/>
            </a:pPr>
            <a:r>
              <a:rPr lang="en-US" sz="1200" i="1" dirty="0">
                <a:solidFill>
                  <a:schemeClr val="tx2"/>
                </a:solidFill>
              </a:rPr>
              <a:t>Any failure sends the claim back to the Planner. After two rounds it goes to a human.</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Live demo: four claims, four behaviours</a:t>
            </a:r>
            <a:endParaRPr lang="en-US" sz="2800" dirty="0"/>
          </a:p>
        </p:txBody>
      </p:sp>
      <p:sp>
        <p:nvSpPr>
          <p:cNvPr id="3" name="Demo card 1"/>
          <p:cNvSpPr/>
          <p:nvPr/>
        </p:nvSpPr>
        <p:spPr>
          <a:xfrm>
            <a:off x="457200" y="1234440"/>
            <a:ext cx="4023360" cy="1463040"/>
          </a:xfrm>
          <a:prstGeom prst="roundRect">
            <a:avLst>
              <a:gd name="adj" fmla="val 5000"/>
            </a:avLst>
          </a:prstGeom>
          <a:solidFill>
            <a:schemeClr val="bg2"/>
          </a:solidFill>
          <a:ln/>
        </p:spPr>
      </p:sp>
      <p:sp>
        <p:nvSpPr>
          <p:cNvPr id="4" name="Demo id 1"/>
          <p:cNvSpPr txBox="1"/>
          <p:nvPr/>
        </p:nvSpPr>
        <p:spPr>
          <a:xfrm>
            <a:off x="64008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CLM-26-0001</a:t>
            </a:r>
            <a:endParaRPr lang="en-US" sz="1200" dirty="0"/>
          </a:p>
        </p:txBody>
      </p:sp>
      <p:sp>
        <p:nvSpPr>
          <p:cNvPr id="5" name="Demo outcome 1"/>
          <p:cNvSpPr/>
          <p:nvPr/>
        </p:nvSpPr>
        <p:spPr>
          <a:xfrm>
            <a:off x="3246120" y="1353312"/>
            <a:ext cx="1051560" cy="292608"/>
          </a:xfrm>
          <a:prstGeom prst="roundRect">
            <a:avLst>
              <a:gd name="adj" fmla="val 50000"/>
            </a:avLst>
          </a:prstGeom>
          <a:solidFill>
            <a:schemeClr val="accent6"/>
          </a:solidFill>
          <a:ln/>
        </p:spPr>
      </p:sp>
      <p:sp>
        <p:nvSpPr>
          <p:cNvPr id="6" name="Demo outcome label 1"/>
          <p:cNvSpPr txBox="1"/>
          <p:nvPr/>
        </p:nvSpPr>
        <p:spPr>
          <a:xfrm>
            <a:off x="324612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PARTIAL</a:t>
            </a:r>
            <a:endParaRPr lang="en-US" sz="1100" dirty="0"/>
          </a:p>
        </p:txBody>
      </p:sp>
      <p:sp>
        <p:nvSpPr>
          <p:cNvPr id="7" name="Demo headline 1"/>
          <p:cNvSpPr txBox="1"/>
          <p:nvPr/>
        </p:nvSpPr>
        <p:spPr>
          <a:xfrm>
            <a:off x="64008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Room rent above the plan cap</a:t>
            </a:r>
            <a:endParaRPr lang="en-US" sz="1600" dirty="0"/>
          </a:p>
        </p:txBody>
      </p:sp>
      <p:sp>
        <p:nvSpPr>
          <p:cNvPr id="8" name="Demo detail 1"/>
          <p:cNvSpPr txBox="1"/>
          <p:nvPr/>
        </p:nvSpPr>
        <p:spPr>
          <a:xfrm>
            <a:off x="64008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Proportionate deduction, clause C6</a:t>
            </a:r>
            <a:endParaRPr lang="en-US" sz="1300" dirty="0"/>
          </a:p>
        </p:txBody>
      </p:sp>
      <p:sp>
        <p:nvSpPr>
          <p:cNvPr id="9" name="Demo card 2"/>
          <p:cNvSpPr/>
          <p:nvPr/>
        </p:nvSpPr>
        <p:spPr>
          <a:xfrm>
            <a:off x="4663440" y="1234440"/>
            <a:ext cx="4023360" cy="1463040"/>
          </a:xfrm>
          <a:prstGeom prst="roundRect">
            <a:avLst>
              <a:gd name="adj" fmla="val 5000"/>
            </a:avLst>
          </a:prstGeom>
          <a:solidFill>
            <a:schemeClr val="bg2"/>
          </a:solidFill>
          <a:ln/>
        </p:spPr>
      </p:sp>
      <p:sp>
        <p:nvSpPr>
          <p:cNvPr id="10" name="Demo id 2"/>
          <p:cNvSpPr txBox="1"/>
          <p:nvPr/>
        </p:nvSpPr>
        <p:spPr>
          <a:xfrm>
            <a:off x="484632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CLM-26-0007</a:t>
            </a:r>
            <a:endParaRPr lang="en-US" sz="1200" dirty="0"/>
          </a:p>
        </p:txBody>
      </p:sp>
      <p:sp>
        <p:nvSpPr>
          <p:cNvPr id="11" name="Demo outcome 2"/>
          <p:cNvSpPr/>
          <p:nvPr/>
        </p:nvSpPr>
        <p:spPr>
          <a:xfrm>
            <a:off x="7452360" y="1353312"/>
            <a:ext cx="1051560" cy="292608"/>
          </a:xfrm>
          <a:prstGeom prst="roundRect">
            <a:avLst>
              <a:gd name="adj" fmla="val 50000"/>
            </a:avLst>
          </a:prstGeom>
          <a:solidFill>
            <a:schemeClr val="accent5"/>
          </a:solidFill>
          <a:ln/>
        </p:spPr>
      </p:sp>
      <p:sp>
        <p:nvSpPr>
          <p:cNvPr id="12" name="Demo outcome label 2"/>
          <p:cNvSpPr txBox="1"/>
          <p:nvPr/>
        </p:nvSpPr>
        <p:spPr>
          <a:xfrm>
            <a:off x="745236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REJECT</a:t>
            </a:r>
            <a:endParaRPr lang="en-US" sz="1100" dirty="0"/>
          </a:p>
        </p:txBody>
      </p:sp>
      <p:sp>
        <p:nvSpPr>
          <p:cNvPr id="13" name="Demo headline 2"/>
          <p:cNvSpPr txBox="1"/>
          <p:nvPr/>
        </p:nvSpPr>
        <p:spPr>
          <a:xfrm>
            <a:off x="484632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Pre-existing condition inside 24 months</a:t>
            </a:r>
            <a:endParaRPr lang="en-US" sz="1600" dirty="0"/>
          </a:p>
        </p:txBody>
      </p:sp>
      <p:sp>
        <p:nvSpPr>
          <p:cNvPr id="14" name="Demo detail 2"/>
          <p:cNvSpPr txBox="1"/>
          <p:nvPr/>
        </p:nvSpPr>
        <p:spPr>
          <a:xfrm>
            <a:off x="484632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Early exit, remaining checks skipped, clause C3</a:t>
            </a:r>
            <a:endParaRPr lang="en-US" sz="1300" dirty="0"/>
          </a:p>
        </p:txBody>
      </p:sp>
      <p:sp>
        <p:nvSpPr>
          <p:cNvPr id="15" name="Demo card 3"/>
          <p:cNvSpPr/>
          <p:nvPr/>
        </p:nvSpPr>
        <p:spPr>
          <a:xfrm>
            <a:off x="457200" y="2880360"/>
            <a:ext cx="4023360" cy="1463040"/>
          </a:xfrm>
          <a:prstGeom prst="roundRect">
            <a:avLst>
              <a:gd name="adj" fmla="val 5000"/>
            </a:avLst>
          </a:prstGeom>
          <a:solidFill>
            <a:schemeClr val="bg2"/>
          </a:solidFill>
          <a:ln/>
        </p:spPr>
      </p:sp>
      <p:sp>
        <p:nvSpPr>
          <p:cNvPr id="16" name="Demo id 3"/>
          <p:cNvSpPr txBox="1"/>
          <p:nvPr/>
        </p:nvSpPr>
        <p:spPr>
          <a:xfrm>
            <a:off x="64008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CLM-26-0019</a:t>
            </a:r>
            <a:endParaRPr lang="en-US" sz="1200" dirty="0"/>
          </a:p>
        </p:txBody>
      </p:sp>
      <p:sp>
        <p:nvSpPr>
          <p:cNvPr id="17" name="Demo outcome 3"/>
          <p:cNvSpPr/>
          <p:nvPr/>
        </p:nvSpPr>
        <p:spPr>
          <a:xfrm>
            <a:off x="3246120" y="2999232"/>
            <a:ext cx="1051560" cy="292608"/>
          </a:xfrm>
          <a:prstGeom prst="roundRect">
            <a:avLst>
              <a:gd name="adj" fmla="val 50000"/>
            </a:avLst>
          </a:prstGeom>
          <a:solidFill>
            <a:schemeClr val="accent2"/>
          </a:solidFill>
          <a:ln/>
        </p:spPr>
      </p:sp>
      <p:sp>
        <p:nvSpPr>
          <p:cNvPr id="18" name="Demo outcome label 3"/>
          <p:cNvSpPr txBox="1"/>
          <p:nvPr/>
        </p:nvSpPr>
        <p:spPr>
          <a:xfrm>
            <a:off x="324612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ESCALATE</a:t>
            </a:r>
            <a:endParaRPr lang="en-US" sz="1100" dirty="0"/>
          </a:p>
        </p:txBody>
      </p:sp>
      <p:sp>
        <p:nvSpPr>
          <p:cNvPr id="19" name="Demo headline 3"/>
          <p:cNvSpPr txBox="1"/>
          <p:nvPr/>
        </p:nvSpPr>
        <p:spPr>
          <a:xfrm>
            <a:off x="64008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Lean plan misses an inflated bill</a:t>
            </a:r>
            <a:endParaRPr lang="en-US" sz="1600" dirty="0"/>
          </a:p>
        </p:txBody>
      </p:sp>
      <p:sp>
        <p:nvSpPr>
          <p:cNvPr id="20" name="Demo detail 3"/>
          <p:cNvSpPr txBox="1"/>
          <p:nvPr/>
        </p:nvSpPr>
        <p:spPr>
          <a:xfrm>
            <a:off x="64008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sends it back, fraud score, human review</a:t>
            </a:r>
            <a:endParaRPr lang="en-US" sz="1300" dirty="0"/>
          </a:p>
        </p:txBody>
      </p:sp>
      <p:sp>
        <p:nvSpPr>
          <p:cNvPr id="21" name="Demo card 4"/>
          <p:cNvSpPr/>
          <p:nvPr/>
        </p:nvSpPr>
        <p:spPr>
          <a:xfrm>
            <a:off x="4663440" y="2880360"/>
            <a:ext cx="4023360" cy="1463040"/>
          </a:xfrm>
          <a:prstGeom prst="roundRect">
            <a:avLst>
              <a:gd name="adj" fmla="val 5000"/>
            </a:avLst>
          </a:prstGeom>
          <a:solidFill>
            <a:schemeClr val="bg2"/>
          </a:solidFill>
          <a:ln/>
        </p:spPr>
      </p:sp>
      <p:sp>
        <p:nvSpPr>
          <p:cNvPr id="22" name="Demo id 4"/>
          <p:cNvSpPr txBox="1"/>
          <p:nvPr/>
        </p:nvSpPr>
        <p:spPr>
          <a:xfrm>
            <a:off x="484632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CLM-26-0003 + fault</a:t>
            </a:r>
            <a:endParaRPr lang="en-US" sz="1200" dirty="0"/>
          </a:p>
        </p:txBody>
      </p:sp>
      <p:sp>
        <p:nvSpPr>
          <p:cNvPr id="23" name="Demo outcome 4"/>
          <p:cNvSpPr/>
          <p:nvPr/>
        </p:nvSpPr>
        <p:spPr>
          <a:xfrm>
            <a:off x="7452360" y="2999232"/>
            <a:ext cx="1051560" cy="292608"/>
          </a:xfrm>
          <a:prstGeom prst="roundRect">
            <a:avLst>
              <a:gd name="adj" fmla="val 50000"/>
            </a:avLst>
          </a:prstGeom>
          <a:solidFill>
            <a:schemeClr val="accent4"/>
          </a:solidFill>
          <a:ln/>
        </p:spPr>
      </p:sp>
      <p:sp>
        <p:nvSpPr>
          <p:cNvPr id="24" name="Demo outcome label 4"/>
          <p:cNvSpPr txBox="1"/>
          <p:nvPr/>
        </p:nvSpPr>
        <p:spPr>
          <a:xfrm>
            <a:off x="745236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APPROVE</a:t>
            </a:r>
            <a:endParaRPr lang="en-US" sz="1100" dirty="0"/>
          </a:p>
        </p:txBody>
      </p:sp>
      <p:sp>
        <p:nvSpPr>
          <p:cNvPr id="25" name="Demo headline 4"/>
          <p:cNvSpPr txBox="1"/>
          <p:nvPr/>
        </p:nvSpPr>
        <p:spPr>
          <a:xfrm>
            <a:off x="484632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Executor overpays by 15% on purpose</a:t>
            </a:r>
            <a:endParaRPr lang="en-US" sz="1600" dirty="0"/>
          </a:p>
        </p:txBody>
      </p:sp>
      <p:sp>
        <p:nvSpPr>
          <p:cNvPr id="26" name="Demo detail 4"/>
          <p:cNvSpPr txBox="1"/>
          <p:nvPr/>
        </p:nvSpPr>
        <p:spPr>
          <a:xfrm>
            <a:off x="484632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catches it, recomputes, passes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Tested on held-out claims with added noise</a:t>
            </a:r>
            <a:endParaRPr lang="en-US" sz="2800" dirty="0"/>
          </a:p>
        </p:txBody>
      </p:sp>
      <p:graphicFrame>
        <p:nvGraphicFramePr>
          <p:cNvPr id="3" name="Chart 0" descr=""/>
          <p:cNvGraphicFramePr/>
          <p:nvPr/>
        </p:nvGraphicFramePr>
        <p:xfrm>
          <a:off x="365760" y="109728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4" name="Chart note"/>
          <p:cNvSpPr txBox="1"/>
          <p:nvPr/>
        </p:nvSpPr>
        <p:spPr>
          <a:xfrm>
            <a:off x="457200" y="4434840"/>
            <a:ext cx="5303520" cy="228600"/>
          </a:xfrm>
          <a:prstGeom prst="rect">
            <a:avLst/>
          </a:prstGeom>
          <a:noFill/>
          <a:ln/>
        </p:spPr>
        <p:txBody>
          <a:bodyPr wrap="square" lIns="0" tIns="0" rIns="0" bIns="0" rtlCol="0" anchor="t"/>
          <a:lstStyle/>
          <a:p>
            <a:pPr indent="0" marL="0">
              <a:buNone/>
            </a:pPr>
            <a:r>
              <a:rPr lang="en-US" sz="1100" i="1" dirty="0">
                <a:solidFill>
                  <a:schemeClr val="tx2"/>
                </a:solidFill>
              </a:rPr>
              <a:t>UNSEEN rows were added after the fixes, so they have no first-run bar.</a:t>
            </a:r>
            <a:endParaRPr lang="en-US" sz="1100" dirty="0"/>
          </a:p>
        </p:txBody>
      </p:sp>
      <p:sp>
        <p:nvSpPr>
          <p:cNvPr id="5" name="Result card 1"/>
          <p:cNvSpPr/>
          <p:nvPr/>
        </p:nvSpPr>
        <p:spPr>
          <a:xfrm>
            <a:off x="5989320" y="1188720"/>
            <a:ext cx="2697480" cy="1024128"/>
          </a:xfrm>
          <a:prstGeom prst="roundRect">
            <a:avLst>
              <a:gd name="adj" fmla="val 7143"/>
            </a:avLst>
          </a:prstGeom>
          <a:solidFill>
            <a:schemeClr val="bg2"/>
          </a:solidFill>
          <a:ln/>
        </p:spPr>
      </p:sp>
      <p:sp>
        <p:nvSpPr>
          <p:cNvPr id="6" name="Result number 1"/>
          <p:cNvSpPr txBox="1"/>
          <p:nvPr/>
        </p:nvSpPr>
        <p:spPr>
          <a:xfrm>
            <a:off x="6126480" y="1261872"/>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89/89</a:t>
            </a:r>
            <a:endParaRPr lang="en-US" sz="2600" dirty="0"/>
          </a:p>
        </p:txBody>
      </p:sp>
      <p:sp>
        <p:nvSpPr>
          <p:cNvPr id="7" name="Result caption 1"/>
          <p:cNvSpPr txBox="1"/>
          <p:nvPr/>
        </p:nvSpPr>
        <p:spPr>
          <a:xfrm>
            <a:off x="7315200" y="1261872"/>
            <a:ext cx="1280160" cy="877824"/>
          </a:xfrm>
          <a:prstGeom prst="rect">
            <a:avLst/>
          </a:prstGeom>
          <a:noFill/>
          <a:ln/>
        </p:spPr>
        <p:txBody>
          <a:bodyPr wrap="square" lIns="0" tIns="0" rIns="0" bIns="0" rtlCol="0" anchor="ctr"/>
          <a:lstStyle/>
          <a:p>
            <a:pPr indent="0" marL="0">
              <a:buNone/>
            </a:pPr>
            <a:r>
              <a:rPr lang="en-US" sz="1100" dirty="0">
                <a:solidFill>
                  <a:schemeClr val="tx1"/>
                </a:solidFill>
              </a:rPr>
              <a:t>main labelled set</a:t>
            </a:r>
            <a:endParaRPr lang="en-US" sz="1100" dirty="0"/>
          </a:p>
        </p:txBody>
      </p:sp>
      <p:sp>
        <p:nvSpPr>
          <p:cNvPr id="8" name="Result card 2"/>
          <p:cNvSpPr/>
          <p:nvPr/>
        </p:nvSpPr>
        <p:spPr>
          <a:xfrm>
            <a:off x="5989320" y="2359152"/>
            <a:ext cx="2697480" cy="1024128"/>
          </a:xfrm>
          <a:prstGeom prst="roundRect">
            <a:avLst>
              <a:gd name="adj" fmla="val 7143"/>
            </a:avLst>
          </a:prstGeom>
          <a:solidFill>
            <a:schemeClr val="bg2"/>
          </a:solidFill>
          <a:ln/>
        </p:spPr>
      </p:sp>
      <p:sp>
        <p:nvSpPr>
          <p:cNvPr id="9" name="Result number 2"/>
          <p:cNvSpPr txBox="1"/>
          <p:nvPr/>
        </p:nvSpPr>
        <p:spPr>
          <a:xfrm>
            <a:off x="6126480" y="2432304"/>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23/23</a:t>
            </a:r>
            <a:endParaRPr lang="en-US" sz="2600" dirty="0"/>
          </a:p>
        </p:txBody>
      </p:sp>
      <p:sp>
        <p:nvSpPr>
          <p:cNvPr id="10" name="Result caption 2"/>
          <p:cNvSpPr txBox="1"/>
          <p:nvPr/>
        </p:nvSpPr>
        <p:spPr>
          <a:xfrm>
            <a:off x="7315200" y="2432304"/>
            <a:ext cx="1280160" cy="877824"/>
          </a:xfrm>
          <a:prstGeom prst="rect">
            <a:avLst/>
          </a:prstGeom>
          <a:noFill/>
          <a:ln/>
        </p:spPr>
        <p:txBody>
          <a:bodyPr wrap="square" lIns="0" tIns="0" rIns="0" bIns="0" rtlCol="0" anchor="ctr"/>
          <a:lstStyle/>
          <a:p>
            <a:pPr indent="0" marL="0">
              <a:buNone/>
            </a:pPr>
            <a:r>
              <a:rPr lang="en-US" sz="1100" dirty="0">
                <a:solidFill>
                  <a:schemeClr val="tx1"/>
                </a:solidFill>
              </a:rPr>
              <a:t>boundary cases, e.g. 29 vs 30 days</a:t>
            </a:r>
            <a:endParaRPr lang="en-US" sz="1100" dirty="0"/>
          </a:p>
        </p:txBody>
      </p:sp>
      <p:sp>
        <p:nvSpPr>
          <p:cNvPr id="11" name="Result card 3"/>
          <p:cNvSpPr/>
          <p:nvPr/>
        </p:nvSpPr>
        <p:spPr>
          <a:xfrm>
            <a:off x="5989320" y="3529584"/>
            <a:ext cx="2697480" cy="1024128"/>
          </a:xfrm>
          <a:prstGeom prst="roundRect">
            <a:avLst>
              <a:gd name="adj" fmla="val 7143"/>
            </a:avLst>
          </a:prstGeom>
          <a:solidFill>
            <a:schemeClr val="bg2"/>
          </a:solidFill>
          <a:ln/>
        </p:spPr>
      </p:sp>
      <p:sp>
        <p:nvSpPr>
          <p:cNvPr id="12" name="Result number 3"/>
          <p:cNvSpPr txBox="1"/>
          <p:nvPr/>
        </p:nvSpPr>
        <p:spPr>
          <a:xfrm>
            <a:off x="6126480" y="3602736"/>
            <a:ext cx="1188720" cy="877824"/>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94.8%</a:t>
            </a:r>
            <a:endParaRPr lang="en-US" sz="2600" dirty="0"/>
          </a:p>
        </p:txBody>
      </p:sp>
      <p:sp>
        <p:nvSpPr>
          <p:cNvPr id="13" name="Result caption 3"/>
          <p:cNvSpPr txBox="1"/>
          <p:nvPr/>
        </p:nvSpPr>
        <p:spPr>
          <a:xfrm>
            <a:off x="7315200" y="3602736"/>
            <a:ext cx="1280160" cy="877824"/>
          </a:xfrm>
          <a:prstGeom prst="rect">
            <a:avLst/>
          </a:prstGeom>
          <a:noFill/>
          <a:ln/>
        </p:spPr>
        <p:txBody>
          <a:bodyPr wrap="square" lIns="0" tIns="0" rIns="0" bIns="0" rtlCol="0" anchor="ctr"/>
          <a:lstStyle/>
          <a:p>
            <a:pPr indent="0" marL="0">
              <a:buNone/>
            </a:pPr>
            <a:r>
              <a:rPr lang="en-US" sz="1100" dirty="0">
                <a:solidFill>
                  <a:schemeClr val="tx1"/>
                </a:solidFill>
              </a:rPr>
              <a:t>on unseen abbreviations, 23 of 240 risky claims wrongly paid</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Limitations and what comes next</a:t>
            </a:r>
            <a:endParaRPr lang="en-US" sz="2800" dirty="0"/>
          </a:p>
        </p:txBody>
      </p:sp>
      <p:sp>
        <p:nvSpPr>
          <p:cNvPr id="3" name="Limits card"/>
          <p:cNvSpPr/>
          <p:nvPr/>
        </p:nvSpPr>
        <p:spPr>
          <a:xfrm>
            <a:off x="457200" y="1234440"/>
            <a:ext cx="3977640" cy="3246120"/>
          </a:xfrm>
          <a:prstGeom prst="roundRect">
            <a:avLst>
              <a:gd name="adj" fmla="val 2254"/>
            </a:avLst>
          </a:prstGeom>
          <a:solidFill>
            <a:schemeClr val="bg2"/>
          </a:solidFill>
          <a:ln/>
        </p:spPr>
      </p:sp>
      <p:sp>
        <p:nvSpPr>
          <p:cNvPr id="4" name="Limits heading"/>
          <p:cNvSpPr txBox="1"/>
          <p:nvPr/>
        </p:nvSpPr>
        <p:spPr>
          <a:xfrm>
            <a:off x="685800" y="1371600"/>
            <a:ext cx="35661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Limitations</a:t>
            </a:r>
            <a:endParaRPr lang="en-US" sz="2000" dirty="0"/>
          </a:p>
        </p:txBody>
      </p:sp>
      <p:sp>
        <p:nvSpPr>
          <p:cNvPr id="5" name="Limits list"/>
          <p:cNvSpPr txBox="1"/>
          <p:nvPr/>
        </p:nvSpPr>
        <p:spPr>
          <a:xfrm>
            <a:off x="68580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All data is synthetic and the summaries are templated</a:t>
            </a:r>
            <a:endParaRPr lang="en-US" sz="1400" dirty="0"/>
          </a:p>
          <a:p>
            <a:pPr marL="342900" indent="-342900">
              <a:spcAft>
                <a:spcPts val="700"/>
              </a:spcAft>
              <a:buSzPct val="100000"/>
              <a:buChar char="•"/>
            </a:pPr>
            <a:r>
              <a:rPr lang="en-US" sz="1400" dirty="0">
                <a:solidFill>
                  <a:schemeClr val="tx1"/>
                </a:solidFill>
              </a:rPr>
              <a:t>Clinical abbreviations can hide a pre-existing condition</a:t>
            </a:r>
            <a:endParaRPr lang="en-US" sz="1400" dirty="0"/>
          </a:p>
          <a:p>
            <a:pPr marL="342900" indent="-342900">
              <a:spcAft>
                <a:spcPts val="700"/>
              </a:spcAft>
              <a:buSzPct val="100000"/>
              <a:buChar char="•"/>
            </a:pPr>
            <a:r>
              <a:rPr lang="en-US" sz="1400" dirty="0">
                <a:solidFill>
                  <a:schemeClr val="tx1"/>
                </a:solidFill>
              </a:rPr>
              <a:t>Fraud weights and tariffs are hand-set, not learned</a:t>
            </a:r>
            <a:endParaRPr lang="en-US" sz="1400" dirty="0"/>
          </a:p>
          <a:p>
            <a:pPr marL="342900" indent="-342900">
              <a:spcAft>
                <a:spcPts val="700"/>
              </a:spcAft>
              <a:buSzPct val="100000"/>
              <a:buChar char="•"/>
            </a:pPr>
            <a:r>
              <a:rPr lang="en-US" sz="1400" dirty="0">
                <a:solidFill>
                  <a:schemeClr val="tx1"/>
                </a:solidFill>
              </a:rPr>
              <a:t>The 25-minute manual baseline is an assumption</a:t>
            </a:r>
            <a:endParaRPr lang="en-US" sz="1400" dirty="0"/>
          </a:p>
        </p:txBody>
      </p:sp>
      <p:sp>
        <p:nvSpPr>
          <p:cNvPr id="6" name="Future card"/>
          <p:cNvSpPr/>
          <p:nvPr/>
        </p:nvSpPr>
        <p:spPr>
          <a:xfrm>
            <a:off x="4709160" y="1234440"/>
            <a:ext cx="3977640" cy="3246120"/>
          </a:xfrm>
          <a:prstGeom prst="roundRect">
            <a:avLst>
              <a:gd name="adj" fmla="val 2254"/>
            </a:avLst>
          </a:prstGeom>
          <a:solidFill>
            <a:schemeClr val="bg2"/>
          </a:solidFill>
          <a:ln/>
        </p:spPr>
      </p:sp>
      <p:sp>
        <p:nvSpPr>
          <p:cNvPr id="7" name="Future heading"/>
          <p:cNvSpPr txBox="1"/>
          <p:nvPr/>
        </p:nvSpPr>
        <p:spPr>
          <a:xfrm>
            <a:off x="4937760" y="137160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Future scope</a:t>
            </a:r>
            <a:endParaRPr lang="en-US" sz="2000" dirty="0"/>
          </a:p>
        </p:txBody>
      </p:sp>
      <p:sp>
        <p:nvSpPr>
          <p:cNvPr id="8" name="Future list"/>
          <p:cNvSpPr txBox="1"/>
          <p:nvPr/>
        </p:nvSpPr>
        <p:spPr>
          <a:xfrm>
            <a:off x="493776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Language-model extractor for real, messy documents</a:t>
            </a:r>
            <a:endParaRPr lang="en-US" sz="1400" dirty="0"/>
          </a:p>
          <a:p>
            <a:pPr marL="342900" indent="-342900">
              <a:spcAft>
                <a:spcPts val="700"/>
              </a:spcAft>
              <a:buSzPct val="100000"/>
              <a:buChar char="•"/>
            </a:pPr>
            <a:r>
              <a:rPr lang="en-US" sz="1400" dirty="0">
                <a:solidFill>
                  <a:schemeClr val="tx1"/>
                </a:solidFill>
              </a:rPr>
              <a:t>OCR for scanned bills and summaries</a:t>
            </a:r>
            <a:endParaRPr lang="en-US" sz="1400" dirty="0"/>
          </a:p>
          <a:p>
            <a:pPr marL="342900" indent="-342900">
              <a:spcAft>
                <a:spcPts val="700"/>
              </a:spcAft>
              <a:buSzPct val="100000"/>
              <a:buChar char="•"/>
            </a:pPr>
            <a:r>
              <a:rPr lang="en-US" sz="1400" dirty="0">
                <a:solidFill>
                  <a:schemeClr val="tx1"/>
                </a:solidFill>
              </a:rPr>
              <a:t>Strict mode: hold any claim whose history cannot be verified</a:t>
            </a:r>
            <a:endParaRPr lang="en-US" sz="1400" dirty="0"/>
          </a:p>
          <a:p>
            <a:pPr marL="342900" indent="-342900">
              <a:spcAft>
                <a:spcPts val="700"/>
              </a:spcAft>
              <a:buSzPct val="100000"/>
              <a:buChar char="•"/>
            </a:pPr>
            <a:r>
              <a:rPr lang="en-US" sz="1400" dirty="0">
                <a:solidFill>
                  <a:schemeClr val="tx1"/>
                </a:solidFill>
              </a:rPr>
              <a:t>Learn fraud weights from real outcomes, with human review feedback</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560320"/>
            <a:ext cx="7315200" cy="1097280"/>
          </a:xfrm>
          <a:prstGeom prst="rect">
            <a:avLst/>
          </a:prstGeom>
          <a:noFill/>
          <a:ln/>
        </p:spPr>
        <p:txBody>
          <a:bodyPr wrap="square" lIns="0" tIns="0" rIns="0" bIns="0" rtlCol="0" anchor="t"/>
          <a:lstStyle/>
          <a:p>
            <a:pPr indent="0" marL="0">
              <a:buNone/>
            </a:pPr>
            <a:r>
              <a:rPr lang="en-US" sz="1800" dirty="0">
                <a:solidFill>
                  <a:schemeClr val="bg2"/>
                </a:solidFill>
              </a:rPr>
              <a:t>Questions welcome. The Streamlit app, the architecture diagram and the robustness reports are all in the project folder.</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Appendix: full architecture diagram</a:t>
            </a:r>
            <a:endParaRPr lang="en-US" sz="2800" dirty="0"/>
          </a:p>
        </p:txBody>
      </p:sp>
      <p:pic>
        <p:nvPicPr>
          <p:cNvPr id="3" name="Architecture diagram" descr="Architecture of the five-agent claims pipeline with a Critic to Planner feedback loop">    </p:cNvPr>
          <p:cNvPicPr>
            <a:picLocks noChangeAspect="1"/>
          </p:cNvPicPr>
          <p:nvPr/>
        </p:nvPicPr>
        <p:blipFill>
          <a:blip r:embed="rId1"/>
          <a:stretch>
            <a:fillRect/>
          </a:stretch>
        </p:blipFill>
        <p:spPr>
          <a:xfrm>
            <a:off x="1594884" y="1051560"/>
            <a:ext cx="5954233" cy="3657600"/>
          </a:xfrm>
          <a:prstGeom prst="rect">
            <a:avLst/>
          </a:prstGeom>
        </p:spPr>
      </p:pic>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Claims Agent">
  <a:themeElements>
    <a:clrScheme name="Claims Agent">
      <a:dk1>
        <a:srgbClr val="12263A"/>
      </a:dk1>
      <a:lt1>
        <a:srgbClr val="FFFFFF"/>
      </a:lt1>
      <a:dk2>
        <a:srgbClr val="0B4F5C"/>
      </a:dk2>
      <a:lt2>
        <a:srgbClr val="EDF3F5"/>
      </a:lt2>
      <a:accent1>
        <a:srgbClr val="0F766E"/>
      </a:accent1>
      <a:accent2>
        <a:srgbClr val="E8590C"/>
      </a:accent2>
      <a:accent3>
        <a:srgbClr val="3B5BDB"/>
      </a:accent3>
      <a:accent4>
        <a:srgbClr val="2F9E44"/>
      </a:accent4>
      <a:accent5>
        <a:srgbClr val="C92A2A"/>
      </a:accent5>
      <a:accent6>
        <a:srgbClr val="7048E8"/>
      </a:accent6>
      <a:hlink>
        <a:srgbClr val="0F766E"/>
      </a:hlink>
      <a:folHlink>
        <a:srgbClr val="7048E8"/>
      </a:folHlink>
    </a:clrScheme>
    <a:fontScheme name="Claims Ag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Adjudication Agent</dc:title>
  <dc:subject>CA-3 Agentic AI proof of concept</dc:subject>
  <dc:creator>PptxGenJS</dc:creator>
  <cp:lastModifiedBy>PptxGenJS</cp:lastModifiedBy>
  <cp:revision>1</cp:revision>
  <dcterms:created xsi:type="dcterms:W3CDTF">2026-10-14T20:25:06Z</dcterms:created>
  <dcterms:modified xsi:type="dcterms:W3CDTF">2026-10-14T20:25:06Z</dcterms:modified>
</cp:coreProperties>
</file>