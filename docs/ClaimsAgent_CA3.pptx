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32cef51-519c-6b96-d779-631be63cadc9}">
          <p14:sldIdLst>
            <p14:sldId id="256"/>
          </p14:sldIdLst>
        </p14:section>
        <p14:section name="Problem" id="{56043ce9-db0e-a8f4-ecb0-a0ddc66aac87}">
          <p14:sldIdLst>
            <p14:sldId id="257"/>
          </p14:sldIdLst>
        </p14:section>
        <p14:section name="Solution" id="{3823349e-6645-23ae-5b21-8c724c3a8660}">
          <p14:sldIdLst>
            <p14:sldId id="258"/>
            <p14:sldId id="259"/>
            <p14:sldId id="260"/>
            <p14:sldId id="261"/>
          </p14:sldIdLst>
        </p14:section>
        <p14:section name="Validation" id="{22e0d75f-5f60-aa38-ad0b-0f726732c3a9}">
          <p14:sldIdLst>
            <p14:sldId id="262"/>
            <p14:sldId id="263"/>
          </p14:sldIdLst>
        </p14:section>
        <p14:section name="Close" id="{ce7b2eb3-75bf-bcd0-615f-ebd7c5bd7c2c}">
          <p14:sldIdLst>
            <p14:sldId id="264"/>
            <p14:sldId id="265"/>
          </p14:sldIdLst>
        </p14:section>
        <p14:section name="Appendix" id="{6e395425-b760-3db8-add8-95d6f7a1d792}">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263A"/>
                </a:solidFill>
                <a:latin typeface="+mn-lt"/>
              </a:defRPr>
            </a:pPr>
            <a:r>
              <a:rPr sz="1300" b="0" i="0" u="none" strike="noStrike">
                <a:solidFill>
                  <a:srgbClr val="12263A"/>
                </a:solidFill>
                <a:latin typeface="+mn-lt"/>
              </a:rPr>
              <a:t>Accuracy by noise condition (%)</a:t>
            </a:r>
          </a:p>
        </c:rich>
      </c:tx>
      <c:layout/>
      <c:overlay val="0"/>
    </c:title>
    <c:autoTitleDeleted val="0"/>
    <c:plotArea>
      <c:layout/>
      <c:barChart>
        <c:barDir val="bar"/>
        <c:grouping val="clustered"/>
        <c:varyColors val="0"/>
        <c:ser>
          <c:idx val="0"/>
          <c:order val="0"/>
          <c:tx>
            <c:strRef>
              <c:f>Sheet1!$B$1</c:f>
              <c:strCache>
                <c:ptCount val="1"/>
                <c:pt idx="0">
                  <c:v>First run</c:v>
                </c:pt>
              </c:strCache>
            </c:strRef>
          </c:tx>
          <c:spPr>
            <a:solidFill>
              <a:srgbClr val="A9B8C2"/>
            </a:solidFill>
            <a:effectLst/>
          </c:spPr>
          <c:invertIfNegative val="0"/>
          <c:dLbls>
            <c:numFmt formatCode="0.0;-0.0;;" sourceLinked="0"/>
            <c:txPr>
              <a:bodyPr/>
              <a:lstStyle/>
              <a:p>
                <a:pPr>
                  <a:defRPr b="0" i="0" strike="noStrike" sz="1000" u="none">
                    <a:solidFill>
                      <a:srgbClr val="12263A"/>
                    </a:solidFill>
                    <a:latin typeface="+mn-lt"/>
                  </a:defRPr>
                </a:pPr>
              </a:p>
            </c:txPr>
            <c:showLegendKey val="0"/>
            <c:showVal val="1"/>
            <c:showCatName val="0"/>
            <c:showSerName val="0"/>
            <c:showPercent val="0"/>
            <c:showBubbleSize val="0"/>
            <c:showLeaderLines val="0"/>
          </c:dLbls>
          <c:cat>
            <c:multiLvlStrRef>
              <c:f>Sheet1!$A$2:$A$11</c:f>
              <c:multiLvlStrCache>
                <c:ptCount val="10"/>
                <c:lvl>
                  <c:pt idx="0">
                    <c:v>Clean, held-out</c:v>
                  </c:pt>
                  <c:pt idx="1">
                    <c:v>Typos</c:v>
                  </c:pt>
                  <c:pt idx="2">
                    <c:v>Rewording</c:v>
                  </c:pt>
                  <c:pt idx="3">
                    <c:v>Case, whitespace</c:v>
                  </c:pt>
                  <c:pt idx="4">
                    <c:v>Bill jitter</c:v>
                  </c:pt>
                  <c:pt idx="5">
                    <c:v>Unreadable summary</c:v>
                  </c:pt>
                  <c:pt idx="6">
                    <c:v>Combined</c:v>
                  </c:pt>
                  <c:pt idx="7">
                    <c:v>UNSEEN: char noise</c:v>
                  </c:pt>
                  <c:pt idx="8">
                    <c:v>UNSEEN: abbreviations</c:v>
                  </c:pt>
                  <c:pt idx="9">
                    <c:v>UNSEEN: telegraphic notes</c:v>
                  </c:pt>
                </c:lvl>
              </c:multiLvlStrCache>
            </c:multiLvlStrRef>
          </c:cat>
          <c:val>
            <c:numRef>
              <c:f>Sheet1!$B$2:$B$11</c:f>
              <c:numCache>
                <c:formatCode>General</c:formatCode>
                <c:ptCount val="10"/>
                <c:pt idx="0">
                  <c:v>99.1</c:v>
                </c:pt>
                <c:pt idx="1">
                  <c:v>94.2</c:v>
                </c:pt>
                <c:pt idx="2">
                  <c:v>92.4</c:v>
                </c:pt>
                <c:pt idx="3">
                  <c:v>95.7</c:v>
                </c:pt>
                <c:pt idx="4">
                  <c:v>99.1</c:v>
                </c:pt>
                <c:pt idx="5">
                  <c:v>0</c:v>
                </c:pt>
                <c:pt idx="6">
                  <c:v>92.4</c:v>
                </c:pt>
                <c:pt idx="7">
                  <c:v>0</c:v>
                </c:pt>
                <c:pt idx="8">
                  <c:v>0</c:v>
                </c:pt>
                <c:pt idx="9">
                  <c:v>0</c:v>
                </c:pt>
              </c:numCache>
            </c:numRef>
          </c:val>
        </c:ser>
        <c:ser>
          <c:idx val="1"/>
          <c:order val="1"/>
          <c:tx>
            <c:strRef>
              <c:f>Sheet1!$C$1</c:f>
              <c:strCache>
                <c:ptCount val="1"/>
                <c:pt idx="0">
                  <c:v>After fixes</c:v>
                </c:pt>
              </c:strCache>
            </c:strRef>
          </c:tx>
          <c:spPr>
            <a:solidFill>
              <a:srgbClr val="0F766E"/>
            </a:solidFill>
            <a:effectLst/>
          </c:spPr>
          <c:invertIfNegative val="0"/>
          <c:dLbls>
            <c:numFmt formatCode="0.0;-0.0;;" sourceLinked="0"/>
            <c:txPr>
              <a:bodyPr/>
              <a:lstStyle/>
              <a:p>
                <a:pPr>
                  <a:defRPr b="0" i="0" strike="noStrike" sz="1000" u="none">
                    <a:solidFill>
                      <a:srgbClr val="12263A"/>
                    </a:solidFill>
                    <a:latin typeface="+mn-lt"/>
                  </a:defRPr>
                </a:pPr>
              </a:p>
            </c:txPr>
            <c:showLegendKey val="0"/>
            <c:showVal val="1"/>
            <c:showCatName val="0"/>
            <c:showSerName val="0"/>
            <c:showPercent val="0"/>
            <c:showBubbleSize val="0"/>
            <c:showLeaderLines val="0"/>
          </c:dLbls>
          <c:cat>
            <c:multiLvlStrRef>
              <c:f>Sheet1!$A$2:$A$11</c:f>
              <c:multiLvlStrCache>
                <c:ptCount val="10"/>
                <c:lvl>
                  <c:pt idx="0">
                    <c:v>Clean, held-out</c:v>
                  </c:pt>
                  <c:pt idx="1">
                    <c:v>Typos</c:v>
                  </c:pt>
                  <c:pt idx="2">
                    <c:v>Rewording</c:v>
                  </c:pt>
                  <c:pt idx="3">
                    <c:v>Case, whitespace</c:v>
                  </c:pt>
                  <c:pt idx="4">
                    <c:v>Bill jitter</c:v>
                  </c:pt>
                  <c:pt idx="5">
                    <c:v>Unreadable summary</c:v>
                  </c:pt>
                  <c:pt idx="6">
                    <c:v>Combined</c:v>
                  </c:pt>
                  <c:pt idx="7">
                    <c:v>UNSEEN: char noise</c:v>
                  </c:pt>
                  <c:pt idx="8">
                    <c:v>UNSEEN: abbreviations</c:v>
                  </c:pt>
                  <c:pt idx="9">
                    <c:v>UNSEEN: telegraphic notes</c:v>
                  </c:pt>
                </c:lvl>
              </c:multiLvlStrCache>
            </c:multiLvlStrRef>
          </c:cat>
          <c:val>
            <c:numRef>
              <c:f>Sheet1!$C$2:$C$11</c:f>
              <c:numCache>
                <c:formatCode>General</c:formatCode>
                <c:ptCount val="10"/>
                <c:pt idx="0">
                  <c:v>100</c:v>
                </c:pt>
                <c:pt idx="1">
                  <c:v>100</c:v>
                </c:pt>
                <c:pt idx="2">
                  <c:v>100</c:v>
                </c:pt>
                <c:pt idx="3">
                  <c:v>100</c:v>
                </c:pt>
                <c:pt idx="4">
                  <c:v>100</c:v>
                </c:pt>
                <c:pt idx="5">
                  <c:v>100</c:v>
                </c:pt>
                <c:pt idx="6">
                  <c:v>100</c:v>
                </c:pt>
                <c:pt idx="7">
                  <c:v>99.8</c:v>
                </c:pt>
                <c:pt idx="8">
                  <c:v>94.8</c:v>
                </c:pt>
                <c:pt idx="9">
                  <c:v>92.6</c:v>
                </c:pt>
              </c:numCache>
            </c:numRef>
          </c:val>
        </c:ser>
        <c:dLbls>
          <c:numFmt formatCode="0.0;-0.0;;" sourceLinked="0"/>
          <c:txPr>
            <a:bodyPr/>
            <a:lstStyle/>
            <a:p>
              <a:pPr>
                <a:defRPr b="0" i="0" strike="noStrike" sz="1000" u="none">
                  <a:solidFill>
                    <a:srgbClr val="12263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2263A"/>
                </a:solidFill>
                <a:latin typeface="+mn-lt"/>
              </a:defRPr>
            </a:pPr>
            <a:endParaRPr lang="en-US"/>
          </a:p>
        </c:txPr>
        <c:crossAx val="2094734552"/>
        <c:crosses val="autoZero"/>
        <c:auto val="1"/>
        <c:lblAlgn val="ctr"/>
        <c:noMultiLvlLbl val="1"/>
      </c:catAx>
      <c:valAx>
        <c:axId val="2094734552"/>
        <c:scaling>
          <c:orientation val="minMax"/>
          <c:max val="11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0B4F5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2263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263A"/>
                </a:solidFill>
                <a:latin typeface="+mn-lt"/>
              </a:defRPr>
            </a:pPr>
            <a:r>
              <a:rPr sz="1300" b="0" i="0" u="none" strike="noStrike">
                <a:solidFill>
                  <a:srgbClr val="12263A"/>
                </a:solidFill>
                <a:latin typeface="+mn-lt"/>
              </a:rPr>
              <a:t>Accuracy on unseen noise (%)</a:t>
            </a:r>
          </a:p>
        </c:rich>
      </c:tx>
      <c:layout/>
      <c:overlay val="0"/>
    </c:title>
    <c:autoTitleDeleted val="0"/>
    <c:plotArea>
      <c:layout/>
      <c:barChart>
        <c:barDir val="bar"/>
        <c:grouping val="clustered"/>
        <c:varyColors val="0"/>
        <c:ser>
          <c:idx val="0"/>
          <c:order val="0"/>
          <c:tx>
            <c:strRef>
              <c:f>Sheet1!$B$1</c:f>
              <c:strCache>
                <c:ptCount val="1"/>
                <c:pt idx="0">
                  <c:v>Rules only</c:v>
                </c:pt>
              </c:strCache>
            </c:strRef>
          </c:tx>
          <c:spPr>
            <a:solidFill>
              <a:srgbClr val="A9B8C2"/>
            </a:solidFill>
            <a:effectLst/>
          </c:spPr>
          <c:invertIfNegative val="0"/>
          <c:dLbls>
            <c:numFmt formatCode="0.0" sourceLinked="0"/>
            <c:txPr>
              <a:bodyPr/>
              <a:lstStyle/>
              <a:p>
                <a:pPr>
                  <a:defRPr b="0" i="0" strike="noStrike" sz="1100" u="none">
                    <a:solidFill>
                      <a:srgbClr val="12263A"/>
                    </a:solidFill>
                    <a:latin typeface="+mn-lt"/>
                  </a:defRPr>
                </a:pPr>
              </a:p>
            </c:txPr>
            <c:showLegendKey val="0"/>
            <c:showVal val="1"/>
            <c:showCatName val="0"/>
            <c:showSerName val="0"/>
            <c:showPercent val="0"/>
            <c:showBubbleSize val="0"/>
            <c:showLeaderLines val="0"/>
          </c:dLbls>
          <c:cat>
            <c:multiLvlStrRef>
              <c:f>Sheet1!$A$2:$A$5</c:f>
              <c:multiLvlStrCache>
                <c:ptCount val="4"/>
                <c:lvl>
                  <c:pt idx="0">
                    <c:v>Clean</c:v>
                  </c:pt>
                  <c:pt idx="1">
                    <c:v>Character noise</c:v>
                  </c:pt>
                  <c:pt idx="2">
                    <c:v>Abbreviations</c:v>
                  </c:pt>
                  <c:pt idx="3">
                    <c:v>Telegraphic notes</c:v>
                  </c:pt>
                </c:lvl>
              </c:multiLvlStrCache>
            </c:multiLvlStrRef>
          </c:cat>
          <c:val>
            <c:numRef>
              <c:f>Sheet1!$B$2:$B$5</c:f>
              <c:numCache>
                <c:formatCode>General</c:formatCode>
                <c:ptCount val="4"/>
                <c:pt idx="0">
                  <c:v>100</c:v>
                </c:pt>
                <c:pt idx="1">
                  <c:v>96.6</c:v>
                </c:pt>
                <c:pt idx="2">
                  <c:v>94.4</c:v>
                </c:pt>
                <c:pt idx="3">
                  <c:v>91</c:v>
                </c:pt>
              </c:numCache>
            </c:numRef>
          </c:val>
        </c:ser>
        <c:ser>
          <c:idx val="1"/>
          <c:order val="1"/>
          <c:tx>
            <c:strRef>
              <c:f>Sheet1!$C$1</c:f>
              <c:strCache>
                <c:ptCount val="1"/>
                <c:pt idx="0">
                  <c:v>With llama3.2:3b</c:v>
                </c:pt>
              </c:strCache>
            </c:strRef>
          </c:tx>
          <c:spPr>
            <a:solidFill>
              <a:srgbClr val="0F766E"/>
            </a:solidFill>
            <a:effectLst/>
          </c:spPr>
          <c:invertIfNegative val="0"/>
          <c:dLbls>
            <c:numFmt formatCode="0.0" sourceLinked="0"/>
            <c:txPr>
              <a:bodyPr/>
              <a:lstStyle/>
              <a:p>
                <a:pPr>
                  <a:defRPr b="0" i="0" strike="noStrike" sz="1100" u="none">
                    <a:solidFill>
                      <a:srgbClr val="12263A"/>
                    </a:solidFill>
                    <a:latin typeface="+mn-lt"/>
                  </a:defRPr>
                </a:pPr>
              </a:p>
            </c:txPr>
            <c:showLegendKey val="0"/>
            <c:showVal val="1"/>
            <c:showCatName val="0"/>
            <c:showSerName val="0"/>
            <c:showPercent val="0"/>
            <c:showBubbleSize val="0"/>
            <c:showLeaderLines val="0"/>
          </c:dLbls>
          <c:cat>
            <c:multiLvlStrRef>
              <c:f>Sheet1!$A$2:$A$5</c:f>
              <c:multiLvlStrCache>
                <c:ptCount val="4"/>
                <c:lvl>
                  <c:pt idx="0">
                    <c:v>Clean</c:v>
                  </c:pt>
                  <c:pt idx="1">
                    <c:v>Character noise</c:v>
                  </c:pt>
                  <c:pt idx="2">
                    <c:v>Abbreviations</c:v>
                  </c:pt>
                  <c:pt idx="3">
                    <c:v>Telegraphic notes</c:v>
                  </c:pt>
                </c:lvl>
              </c:multiLvlStrCache>
            </c:multiLvlStrRef>
          </c:cat>
          <c:val>
            <c:numRef>
              <c:f>Sheet1!$C$2:$C$5</c:f>
              <c:numCache>
                <c:formatCode>General</c:formatCode>
                <c:ptCount val="4"/>
                <c:pt idx="0">
                  <c:v>100</c:v>
                </c:pt>
                <c:pt idx="1">
                  <c:v>100</c:v>
                </c:pt>
                <c:pt idx="2">
                  <c:v>100</c:v>
                </c:pt>
                <c:pt idx="3">
                  <c:v>100</c:v>
                </c:pt>
              </c:numCache>
            </c:numRef>
          </c:val>
        </c:ser>
        <c:dLbls>
          <c:numFmt formatCode="0.0" sourceLinked="0"/>
          <c:txPr>
            <a:bodyPr/>
            <a:lstStyle/>
            <a:p>
              <a:pPr>
                <a:defRPr b="0" i="0" strike="noStrike" sz="1100" u="none">
                  <a:solidFill>
                    <a:srgbClr val="12263A"/>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2263A"/>
                </a:solidFill>
                <a:latin typeface="+mn-lt"/>
              </a:defRPr>
            </a:pPr>
            <a:endParaRPr lang="en-US"/>
          </a:p>
        </c:txPr>
        <c:crossAx val="2094734552"/>
        <c:crosses val="autoZero"/>
        <c:auto val="1"/>
        <c:lblAlgn val="ctr"/>
        <c:noMultiLvlLbl val="1"/>
      </c:catAx>
      <c:valAx>
        <c:axId val="2094734552"/>
        <c:scaling>
          <c:orientation val="minMax"/>
          <c:max val="104"/>
          <c:min val="8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2263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yourselves and the project in one breath: five software agents that make the first decision on a health-insurance claim, and hand the doubtful ones to a person. About 15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When you are treated in hospital, the hospital sends the insurer a claim. Someone has to decide whether to pay, how much, or whether it looks wrong. That is rule-heavy and document-heavy work, mistakes are expensive, and every decision must be explainable. The 25 minute figure is our assumption, not a measured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Walk left to right. The key idea is the dashed arrow: the Critic can send the claim back to the Planner, so this is a loop and not a straight pipe. The Planner keeps cheap claims on a quick plan and only adds fraud checks when risk shows up. If the Critic notices a risk the plan missed, or a wrong calculation, it triggers a re-plan, at most two rounds, then escalates to a human.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This is a screenshot of our live app on claim CLM-26-0019. Point at the dashed arrow and the RE-PLAN 1 counter: the Planner and the Critic each ran twice. The quick plan skipped the fraud check because the claim looked small and normal. The Critic noticed the price was about 2.4 times the normal cost, so it sent the claim back, and the second round ran the fraud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then switch to the live app and run the demo. Every outcome comes with a plain-English reason and the policy rule behind it, which is the audit trail. The gold box is the moment the Critic sent the claim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Read the ladder top to bottom: a hard rule failure always wins, then missing documents, then risk flags, then deductions. Every outcome cites policy clause ids. The Critic on the right is a separate validator that recomputes the payout and asks whether the fraud screening matched the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and be candid. The main set scores 89 of 89, but its labels come from the same design as the rules, so that proves coverage, not real-world accuracy. So we built a harder test: 445 held-out claims, five kinds of noise, and 23 boundary cases. The first run, the grey bars, exposed real weaknesses and we fixed them. The two UNSEEN rows were added after the fixes and were not tuned against. Clinical abbreviations like TKR or k/c/o DM-2 are still a real gap: 23 risky claims slipped through. That motivates a language-model extractor.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Same claims, same rules, two ways of reading the discharge summary. The grey bars are the rules-only parser; the green bars add the local language model. On shorthand like abbreviations and telegraphic notes, the model reads what the parser cannot, and the number of risky claims wrongly paid falls. The third card is the safety check: a model can also invent a condition that is not there and cause a wrongful hold, so we count those too. The model must quote the summary, and we verify the quote, which is what keeps that number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Limitations first, because the evaluators will ask. The abbreviation gap is the one we know about and measured. The next step is a language-model extractor, which our pluggable model layer already supports, plus a strict mode that trades more manual reviews for fewer missed pre-existing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then take questions. Both members should be ready to answer on any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In the live app these are the demo buttons: part payment, rejection, the second-look loop, and the simulated calculation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with the complete architecture: agents, tool belt, data stores, model layer and the feedback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68680"/>
            <a:ext cx="8046720" cy="8686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1783080"/>
            <a:ext cx="7498080" cy="77724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77724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457200" y="4773168"/>
            <a:ext cx="4572000" cy="228600"/>
          </a:xfrm>
          <a:prstGeom prst="rect">
            <a:avLst/>
          </a:prstGeom>
          <a:noFill/>
          <a:ln/>
        </p:spPr>
        <p:txBody>
          <a:bodyPr wrap="square" lIns="0" tIns="0" rIns="0" bIns="0" rtlCol="0" anchor="ctr"/>
          <a:lstStyle/>
          <a:p>
            <a:pPr indent="0" marL="0">
              <a:buNone/>
            </a:pPr>
            <a:r>
              <a:rPr lang="en-US" sz="1000" dirty="0">
                <a:solidFill>
                  <a:schemeClr val="tx2"/>
                </a:solidFill>
              </a:rPr>
              <a:t>Claims Adjudication Agent  |  CA-3 Agentic AI</a:t>
            </a:r>
            <a:endParaRPr lang="en-US" sz="10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R">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8046720" cy="8229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1691640"/>
            <a:ext cx="7498080" cy="73152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tag"/>
          <p:cNvSpPr txBox="1"/>
          <p:nvPr/>
        </p:nvSpPr>
        <p:spPr>
          <a:xfrm>
            <a:off x="548640" y="457200"/>
            <a:ext cx="804672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CA-3  |  AGENTIC AI  |  DOMAIN-SPECIFIC PROOF OF CONCEPT</a:t>
            </a:r>
            <a:endParaRPr lang="en-US" sz="1200" dirty="0"/>
          </a:p>
        </p:txBody>
      </p:sp>
      <p:sp>
        <p:nvSpPr>
          <p:cNvPr id="3" name="Text 0"/>
          <p:cNvSpPr/>
          <p:nvPr>
            <p:ph idx="100" type="title" hasCustomPrompt="1"/>
          </p:nvPr>
        </p:nvSpPr>
        <p:spPr>
          <a:xfrm>
            <a:off x="548640" y="868680"/>
            <a:ext cx="8046720" cy="868680"/>
          </a:xfrm>
          <a:prstGeom prst="rect">
            <a:avLst/>
          </a:prstGeom>
          <a:noFill/>
          <a:ln/>
        </p:spPr>
        <p:txBody>
          <a:bodyPr wrap="square" lIns="0" tIns="0" rIns="0" bIns="0" rtlCol="0" anchor="t"/>
          <a:lstStyle/>
          <a:p>
            <a:pPr algn="l" indent="0" marL="0">
              <a:buNone/>
            </a:pPr>
            <a:r>
              <a:rPr lang="en-US" sz="4000" b="1" dirty="0">
                <a:solidFill>
                  <a:schemeClr val="bg1"/>
                </a:solidFill>
              </a:rPr>
              <a:t>Claims Adjudication Agent</a:t>
            </a:r>
            <a:endParaRPr lang="en-US" sz="4000" dirty="0"/>
          </a:p>
        </p:txBody>
      </p:sp>
      <p:sp>
        <p:nvSpPr>
          <p:cNvPr id="4" name="Text 0"/>
          <p:cNvSpPr/>
          <p:nvPr>
            <p:ph idx="101" type="body" hasCustomPrompt="1"/>
          </p:nvPr>
        </p:nvSpPr>
        <p:spPr>
          <a:xfrm>
            <a:off x="548640" y="1783080"/>
            <a:ext cx="7498080" cy="777240"/>
          </a:xfrm>
          <a:prstGeom prst="rect">
            <a:avLst/>
          </a:prstGeom>
          <a:noFill/>
          <a:ln/>
        </p:spPr>
        <p:txBody>
          <a:bodyPr wrap="square" lIns="0" tIns="0" rIns="0" bIns="0" rtlCol="0" anchor="t"/>
          <a:lstStyle/>
          <a:p>
            <a:pPr algn="l" indent="0" marL="0">
              <a:buNone/>
            </a:pPr>
            <a:r>
              <a:rPr lang="en-US" sz="1800" dirty="0">
                <a:solidFill>
                  <a:schemeClr val="bg2"/>
                </a:solidFill>
              </a:rPr>
              <a:t>Five cooperating software agents decide whether to pay a health-insurance claim, and know when to ask a human</a:t>
            </a:r>
            <a:endParaRPr lang="en-US" sz="1800" dirty="0"/>
          </a:p>
        </p:txBody>
      </p:sp>
      <p:sp>
        <p:nvSpPr>
          <p:cNvPr id="5" name="Cover node 1"/>
          <p:cNvSpPr/>
          <p:nvPr/>
        </p:nvSpPr>
        <p:spPr>
          <a:xfrm>
            <a:off x="548640" y="2926080"/>
            <a:ext cx="420624" cy="420624"/>
          </a:xfrm>
          <a:prstGeom prst="ellipse">
            <a:avLst/>
          </a:prstGeom>
          <a:solidFill>
            <a:schemeClr val="accent1"/>
          </a:solidFill>
          <a:ln/>
        </p:spPr>
      </p:sp>
      <p:sp>
        <p:nvSpPr>
          <p:cNvPr id="6" name="Cover node 1 number"/>
          <p:cNvSpPr txBox="1"/>
          <p:nvPr/>
        </p:nvSpPr>
        <p:spPr>
          <a:xfrm>
            <a:off x="548640" y="292608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1</a:t>
            </a:r>
            <a:endParaRPr lang="en-US" sz="1500" dirty="0"/>
          </a:p>
        </p:txBody>
      </p:sp>
      <p:sp>
        <p:nvSpPr>
          <p:cNvPr id="7" name="Cover node 1 label"/>
          <p:cNvSpPr txBox="1"/>
          <p:nvPr/>
        </p:nvSpPr>
        <p:spPr>
          <a:xfrm>
            <a:off x="1060704" y="2999232"/>
            <a:ext cx="1005840" cy="274320"/>
          </a:xfrm>
          <a:prstGeom prst="rect">
            <a:avLst/>
          </a:prstGeom>
          <a:noFill/>
          <a:ln/>
        </p:spPr>
        <p:txBody>
          <a:bodyPr wrap="square" lIns="0" tIns="0" rIns="0" bIns="0" rtlCol="0" anchor="ctr"/>
          <a:lstStyle/>
          <a:p>
            <a:pPr indent="0" marL="0">
              <a:buNone/>
            </a:pPr>
            <a:r>
              <a:rPr lang="en-US" sz="1400" dirty="0">
                <a:solidFill>
                  <a:schemeClr val="bg2"/>
                </a:solidFill>
              </a:rPr>
              <a:t>Planner</a:t>
            </a:r>
            <a:endParaRPr lang="en-US" sz="1400" dirty="0"/>
          </a:p>
        </p:txBody>
      </p:sp>
      <p:sp>
        <p:nvSpPr>
          <p:cNvPr id="8" name="Cover node 2"/>
          <p:cNvSpPr/>
          <p:nvPr/>
        </p:nvSpPr>
        <p:spPr>
          <a:xfrm>
            <a:off x="2176272" y="2926080"/>
            <a:ext cx="420624" cy="420624"/>
          </a:xfrm>
          <a:prstGeom prst="ellipse">
            <a:avLst/>
          </a:prstGeom>
          <a:solidFill>
            <a:schemeClr val="accent1"/>
          </a:solidFill>
          <a:ln/>
        </p:spPr>
      </p:sp>
      <p:sp>
        <p:nvSpPr>
          <p:cNvPr id="9" name="Cover node 2 number"/>
          <p:cNvSpPr txBox="1"/>
          <p:nvPr/>
        </p:nvSpPr>
        <p:spPr>
          <a:xfrm>
            <a:off x="2176272" y="292608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2</a:t>
            </a:r>
            <a:endParaRPr lang="en-US" sz="1500" dirty="0"/>
          </a:p>
        </p:txBody>
      </p:sp>
      <p:sp>
        <p:nvSpPr>
          <p:cNvPr id="10" name="Cover node 2 label"/>
          <p:cNvSpPr txBox="1"/>
          <p:nvPr/>
        </p:nvSpPr>
        <p:spPr>
          <a:xfrm>
            <a:off x="2688336" y="2999232"/>
            <a:ext cx="1005840" cy="274320"/>
          </a:xfrm>
          <a:prstGeom prst="rect">
            <a:avLst/>
          </a:prstGeom>
          <a:noFill/>
          <a:ln/>
        </p:spPr>
        <p:txBody>
          <a:bodyPr wrap="square" lIns="0" tIns="0" rIns="0" bIns="0" rtlCol="0" anchor="ctr"/>
          <a:lstStyle/>
          <a:p>
            <a:pPr indent="0" marL="0">
              <a:buNone/>
            </a:pPr>
            <a:r>
              <a:rPr lang="en-US" sz="1400" dirty="0">
                <a:solidFill>
                  <a:schemeClr val="bg2"/>
                </a:solidFill>
              </a:rPr>
              <a:t>Extractor</a:t>
            </a:r>
            <a:endParaRPr lang="en-US" sz="1400" dirty="0"/>
          </a:p>
        </p:txBody>
      </p:sp>
      <p:sp>
        <p:nvSpPr>
          <p:cNvPr id="11" name="Cover node 3"/>
          <p:cNvSpPr/>
          <p:nvPr/>
        </p:nvSpPr>
        <p:spPr>
          <a:xfrm>
            <a:off x="3803904" y="2926080"/>
            <a:ext cx="420624" cy="420624"/>
          </a:xfrm>
          <a:prstGeom prst="ellipse">
            <a:avLst/>
          </a:prstGeom>
          <a:solidFill>
            <a:schemeClr val="accent1"/>
          </a:solidFill>
          <a:ln/>
        </p:spPr>
      </p:sp>
      <p:sp>
        <p:nvSpPr>
          <p:cNvPr id="12" name="Cover node 3 number"/>
          <p:cNvSpPr txBox="1"/>
          <p:nvPr/>
        </p:nvSpPr>
        <p:spPr>
          <a:xfrm>
            <a:off x="3803904" y="292608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3</a:t>
            </a:r>
            <a:endParaRPr lang="en-US" sz="1500" dirty="0"/>
          </a:p>
        </p:txBody>
      </p:sp>
      <p:sp>
        <p:nvSpPr>
          <p:cNvPr id="13" name="Cover node 3 label"/>
          <p:cNvSpPr txBox="1"/>
          <p:nvPr/>
        </p:nvSpPr>
        <p:spPr>
          <a:xfrm>
            <a:off x="4315968" y="2999232"/>
            <a:ext cx="1005840" cy="274320"/>
          </a:xfrm>
          <a:prstGeom prst="rect">
            <a:avLst/>
          </a:prstGeom>
          <a:noFill/>
          <a:ln/>
        </p:spPr>
        <p:txBody>
          <a:bodyPr wrap="square" lIns="0" tIns="0" rIns="0" bIns="0" rtlCol="0" anchor="ctr"/>
          <a:lstStyle/>
          <a:p>
            <a:pPr indent="0" marL="0">
              <a:buNone/>
            </a:pPr>
            <a:r>
              <a:rPr lang="en-US" sz="1400" dirty="0">
                <a:solidFill>
                  <a:schemeClr val="bg2"/>
                </a:solidFill>
              </a:rPr>
              <a:t>Executor</a:t>
            </a:r>
            <a:endParaRPr lang="en-US" sz="1400" dirty="0"/>
          </a:p>
        </p:txBody>
      </p:sp>
      <p:sp>
        <p:nvSpPr>
          <p:cNvPr id="14" name="Cover node 4"/>
          <p:cNvSpPr/>
          <p:nvPr/>
        </p:nvSpPr>
        <p:spPr>
          <a:xfrm>
            <a:off x="5431536" y="2926080"/>
            <a:ext cx="420624" cy="420624"/>
          </a:xfrm>
          <a:prstGeom prst="ellipse">
            <a:avLst/>
          </a:prstGeom>
          <a:solidFill>
            <a:schemeClr val="accent2"/>
          </a:solidFill>
          <a:ln/>
        </p:spPr>
      </p:sp>
      <p:sp>
        <p:nvSpPr>
          <p:cNvPr id="15" name="Cover node 4 number"/>
          <p:cNvSpPr txBox="1"/>
          <p:nvPr/>
        </p:nvSpPr>
        <p:spPr>
          <a:xfrm>
            <a:off x="5431536" y="292608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4</a:t>
            </a:r>
            <a:endParaRPr lang="en-US" sz="1500" dirty="0"/>
          </a:p>
        </p:txBody>
      </p:sp>
      <p:sp>
        <p:nvSpPr>
          <p:cNvPr id="16" name="Cover node 4 label"/>
          <p:cNvSpPr txBox="1"/>
          <p:nvPr/>
        </p:nvSpPr>
        <p:spPr>
          <a:xfrm>
            <a:off x="5943600" y="2999232"/>
            <a:ext cx="1005840" cy="274320"/>
          </a:xfrm>
          <a:prstGeom prst="rect">
            <a:avLst/>
          </a:prstGeom>
          <a:noFill/>
          <a:ln/>
        </p:spPr>
        <p:txBody>
          <a:bodyPr wrap="square" lIns="0" tIns="0" rIns="0" bIns="0" rtlCol="0" anchor="ctr"/>
          <a:lstStyle/>
          <a:p>
            <a:pPr indent="0" marL="0">
              <a:buNone/>
            </a:pPr>
            <a:r>
              <a:rPr lang="en-US" sz="1400" dirty="0">
                <a:solidFill>
                  <a:schemeClr val="bg2"/>
                </a:solidFill>
              </a:rPr>
              <a:t>Critic</a:t>
            </a:r>
            <a:endParaRPr lang="en-US" sz="1400" dirty="0"/>
          </a:p>
        </p:txBody>
      </p:sp>
      <p:sp>
        <p:nvSpPr>
          <p:cNvPr id="17" name="Cover node 5"/>
          <p:cNvSpPr/>
          <p:nvPr/>
        </p:nvSpPr>
        <p:spPr>
          <a:xfrm>
            <a:off x="7059168" y="2926080"/>
            <a:ext cx="420624" cy="420624"/>
          </a:xfrm>
          <a:prstGeom prst="ellipse">
            <a:avLst/>
          </a:prstGeom>
          <a:solidFill>
            <a:schemeClr val="accent1"/>
          </a:solidFill>
          <a:ln/>
        </p:spPr>
      </p:sp>
      <p:sp>
        <p:nvSpPr>
          <p:cNvPr id="18" name="Cover node 5 number"/>
          <p:cNvSpPr txBox="1"/>
          <p:nvPr/>
        </p:nvSpPr>
        <p:spPr>
          <a:xfrm>
            <a:off x="7059168" y="292608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5</a:t>
            </a:r>
            <a:endParaRPr lang="en-US" sz="1500" dirty="0"/>
          </a:p>
        </p:txBody>
      </p:sp>
      <p:sp>
        <p:nvSpPr>
          <p:cNvPr id="19" name="Cover node 5 label"/>
          <p:cNvSpPr txBox="1"/>
          <p:nvPr/>
        </p:nvSpPr>
        <p:spPr>
          <a:xfrm>
            <a:off x="7571232" y="2999232"/>
            <a:ext cx="1005840" cy="274320"/>
          </a:xfrm>
          <a:prstGeom prst="rect">
            <a:avLst/>
          </a:prstGeom>
          <a:noFill/>
          <a:ln/>
        </p:spPr>
        <p:txBody>
          <a:bodyPr wrap="square" lIns="0" tIns="0" rIns="0" bIns="0" rtlCol="0" anchor="ctr"/>
          <a:lstStyle/>
          <a:p>
            <a:pPr indent="0" marL="0">
              <a:buNone/>
            </a:pPr>
            <a:r>
              <a:rPr lang="en-US" sz="1400" dirty="0">
                <a:solidFill>
                  <a:schemeClr val="bg2"/>
                </a:solidFill>
              </a:rPr>
              <a:t>Decision</a:t>
            </a:r>
            <a:endParaRPr lang="en-US" sz="1400" dirty="0"/>
          </a:p>
        </p:txBody>
      </p:sp>
      <p:sp>
        <p:nvSpPr>
          <p:cNvPr id="20" name="Members card"/>
          <p:cNvSpPr/>
          <p:nvPr/>
        </p:nvSpPr>
        <p:spPr>
          <a:xfrm>
            <a:off x="548640" y="3703320"/>
            <a:ext cx="8046720" cy="1051560"/>
          </a:xfrm>
          <a:prstGeom prst="roundRect">
            <a:avLst>
              <a:gd name="adj" fmla="val 6957"/>
            </a:avLst>
          </a:prstGeom>
          <a:solidFill>
            <a:schemeClr val="tx2"/>
          </a:solidFill>
          <a:ln/>
        </p:spPr>
      </p:sp>
      <p:sp>
        <p:nvSpPr>
          <p:cNvPr id="21" name="Cover label"/>
          <p:cNvSpPr txBox="1"/>
          <p:nvPr/>
        </p:nvSpPr>
        <p:spPr>
          <a:xfrm>
            <a:off x="822960" y="3794760"/>
            <a:ext cx="2743200" cy="228600"/>
          </a:xfrm>
          <a:prstGeom prst="rect">
            <a:avLst/>
          </a:prstGeom>
          <a:noFill/>
          <a:ln/>
        </p:spPr>
        <p:txBody>
          <a:bodyPr wrap="square" lIns="0" tIns="0" rIns="0" bIns="0" rtlCol="0" anchor="t"/>
          <a:lstStyle/>
          <a:p>
            <a:pPr indent="0" marL="0">
              <a:buNone/>
            </a:pPr>
            <a:r>
              <a:rPr lang="en-US" sz="1100" b="1" spc="300" kern="0" dirty="0">
                <a:solidFill>
                  <a:schemeClr val="bg2"/>
                </a:solidFill>
              </a:rPr>
              <a:t>GROUP MEMBERS</a:t>
            </a:r>
            <a:endParaRPr lang="en-US" sz="1100" dirty="0"/>
          </a:p>
        </p:txBody>
      </p:sp>
      <p:sp>
        <p:nvSpPr>
          <p:cNvPr id="22" name="Cover name 1"/>
          <p:cNvSpPr txBox="1"/>
          <p:nvPr/>
        </p:nvSpPr>
        <p:spPr>
          <a:xfrm>
            <a:off x="822960" y="4087368"/>
            <a:ext cx="3017520" cy="36576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Harsh Salunkhe</a:t>
            </a:r>
            <a:endParaRPr lang="en-US" sz="2000" dirty="0"/>
          </a:p>
        </p:txBody>
      </p:sp>
      <p:sp>
        <p:nvSpPr>
          <p:cNvPr id="23" name="Cover roll 1"/>
          <p:cNvSpPr txBox="1"/>
          <p:nvPr/>
        </p:nvSpPr>
        <p:spPr>
          <a:xfrm>
            <a:off x="822960" y="4471416"/>
            <a:ext cx="3017520" cy="274320"/>
          </a:xfrm>
          <a:prstGeom prst="rect">
            <a:avLst/>
          </a:prstGeom>
          <a:noFill/>
          <a:ln/>
        </p:spPr>
        <p:txBody>
          <a:bodyPr wrap="square" lIns="0" tIns="0" rIns="0" bIns="0" rtlCol="0" anchor="t"/>
          <a:lstStyle/>
          <a:p>
            <a:pPr indent="0" marL="0">
              <a:buNone/>
            </a:pPr>
            <a:r>
              <a:rPr lang="en-US" sz="1400" dirty="0">
                <a:solidFill>
                  <a:schemeClr val="bg2"/>
                </a:solidFill>
              </a:rPr>
              <a:t>24070126066</a:t>
            </a:r>
            <a:endParaRPr lang="en-US" sz="1400" dirty="0"/>
          </a:p>
        </p:txBody>
      </p:sp>
      <p:sp>
        <p:nvSpPr>
          <p:cNvPr id="24" name="Cover name 2"/>
          <p:cNvSpPr txBox="1"/>
          <p:nvPr/>
        </p:nvSpPr>
        <p:spPr>
          <a:xfrm>
            <a:off x="4023360" y="4087368"/>
            <a:ext cx="3017520" cy="36576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Dharna Sharma</a:t>
            </a:r>
            <a:endParaRPr lang="en-US" sz="2000" dirty="0"/>
          </a:p>
        </p:txBody>
      </p:sp>
      <p:sp>
        <p:nvSpPr>
          <p:cNvPr id="25" name="Cover roll 2"/>
          <p:cNvSpPr txBox="1"/>
          <p:nvPr/>
        </p:nvSpPr>
        <p:spPr>
          <a:xfrm>
            <a:off x="4023360" y="4471416"/>
            <a:ext cx="3017520" cy="274320"/>
          </a:xfrm>
          <a:prstGeom prst="rect">
            <a:avLst/>
          </a:prstGeom>
          <a:noFill/>
          <a:ln/>
        </p:spPr>
        <p:txBody>
          <a:bodyPr wrap="square" lIns="0" tIns="0" rIns="0" bIns="0" rtlCol="0" anchor="t"/>
          <a:lstStyle/>
          <a:p>
            <a:pPr indent="0" marL="0">
              <a:buNone/>
            </a:pPr>
            <a:r>
              <a:rPr lang="en-US" sz="1400" dirty="0">
                <a:solidFill>
                  <a:schemeClr val="bg2"/>
                </a:solidFill>
              </a:rPr>
              <a:t>24070126053</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777240"/>
          </a:xfrm>
          <a:prstGeom prst="rect">
            <a:avLst/>
          </a:prstGeom>
          <a:noFill/>
          <a:ln/>
        </p:spPr>
        <p:txBody>
          <a:bodyPr wrap="square" lIns="0" tIns="0" rIns="0" bIns="0" rtlCol="0" anchor="t"/>
          <a:lstStyle/>
          <a:p>
            <a:pPr algn="l" indent="0" marL="0">
              <a:buNone/>
            </a:pPr>
            <a:r>
              <a:rPr lang="en-US" sz="2800" b="1" dirty="0">
                <a:solidFill>
                  <a:schemeClr val="tx1"/>
                </a:solidFill>
              </a:rPr>
              <a:t>Manual claim review is slow, uneven and costly</a:t>
            </a:r>
            <a:endParaRPr lang="en-US" sz="2800" dirty="0"/>
          </a:p>
        </p:txBody>
      </p:sp>
      <p:sp>
        <p:nvSpPr>
          <p:cNvPr id="3" name="Stat card 1"/>
          <p:cNvSpPr/>
          <p:nvPr/>
        </p:nvSpPr>
        <p:spPr>
          <a:xfrm>
            <a:off x="457200" y="1371600"/>
            <a:ext cx="3931920" cy="914400"/>
          </a:xfrm>
          <a:prstGeom prst="roundRect">
            <a:avLst>
              <a:gd name="adj" fmla="val 8000"/>
            </a:avLst>
          </a:prstGeom>
          <a:solidFill>
            <a:schemeClr val="bg2"/>
          </a:solidFill>
          <a:ln/>
        </p:spPr>
      </p:sp>
      <p:sp>
        <p:nvSpPr>
          <p:cNvPr id="4" name="Stat 1 value"/>
          <p:cNvSpPr txBox="1"/>
          <p:nvPr/>
        </p:nvSpPr>
        <p:spPr>
          <a:xfrm>
            <a:off x="640080" y="1463040"/>
            <a:ext cx="1600200" cy="73152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~25 min</a:t>
            </a:r>
            <a:endParaRPr lang="en-US" sz="3000" dirty="0"/>
          </a:p>
        </p:txBody>
      </p:sp>
      <p:sp>
        <p:nvSpPr>
          <p:cNvPr id="5" name="Stat 1 label"/>
          <p:cNvSpPr txBox="1"/>
          <p:nvPr/>
        </p:nvSpPr>
        <p:spPr>
          <a:xfrm>
            <a:off x="2286000" y="1463040"/>
            <a:ext cx="1965960" cy="731520"/>
          </a:xfrm>
          <a:prstGeom prst="rect">
            <a:avLst/>
          </a:prstGeom>
          <a:noFill/>
          <a:ln/>
        </p:spPr>
        <p:txBody>
          <a:bodyPr wrap="square" lIns="0" tIns="0" rIns="0" bIns="0" rtlCol="0" anchor="ctr"/>
          <a:lstStyle/>
          <a:p>
            <a:pPr indent="0" marL="0">
              <a:buNone/>
            </a:pPr>
            <a:r>
              <a:rPr lang="en-US" sz="1400" dirty="0">
                <a:solidFill>
                  <a:schemeClr val="tx1"/>
                </a:solidFill>
              </a:rPr>
              <a:t>assumed manual first-pass time for one claim</a:t>
            </a:r>
            <a:endParaRPr lang="en-US" sz="1400" dirty="0"/>
          </a:p>
        </p:txBody>
      </p:sp>
      <p:sp>
        <p:nvSpPr>
          <p:cNvPr id="6" name="Stat card 2"/>
          <p:cNvSpPr/>
          <p:nvPr/>
        </p:nvSpPr>
        <p:spPr>
          <a:xfrm>
            <a:off x="457200" y="2450592"/>
            <a:ext cx="3931920" cy="914400"/>
          </a:xfrm>
          <a:prstGeom prst="roundRect">
            <a:avLst>
              <a:gd name="adj" fmla="val 8000"/>
            </a:avLst>
          </a:prstGeom>
          <a:solidFill>
            <a:schemeClr val="bg2"/>
          </a:solidFill>
          <a:ln/>
        </p:spPr>
      </p:sp>
      <p:sp>
        <p:nvSpPr>
          <p:cNvPr id="7" name="Stat 2 value"/>
          <p:cNvSpPr txBox="1"/>
          <p:nvPr/>
        </p:nvSpPr>
        <p:spPr>
          <a:xfrm>
            <a:off x="640080" y="2542032"/>
            <a:ext cx="1600200" cy="73152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15</a:t>
            </a:r>
            <a:endParaRPr lang="en-US" sz="3000" dirty="0"/>
          </a:p>
        </p:txBody>
      </p:sp>
      <p:sp>
        <p:nvSpPr>
          <p:cNvPr id="8" name="Stat 2 label"/>
          <p:cNvSpPr txBox="1"/>
          <p:nvPr/>
        </p:nvSpPr>
        <p:spPr>
          <a:xfrm>
            <a:off x="2286000" y="2542032"/>
            <a:ext cx="1965960" cy="731520"/>
          </a:xfrm>
          <a:prstGeom prst="rect">
            <a:avLst/>
          </a:prstGeom>
          <a:noFill/>
          <a:ln/>
        </p:spPr>
        <p:txBody>
          <a:bodyPr wrap="square" lIns="0" tIns="0" rIns="0" bIns="0" rtlCol="0" anchor="ctr"/>
          <a:lstStyle/>
          <a:p>
            <a:pPr indent="0" marL="0">
              <a:buNone/>
            </a:pPr>
            <a:r>
              <a:rPr lang="en-US" sz="1400" dirty="0">
                <a:solidFill>
                  <a:schemeClr val="tx1"/>
                </a:solidFill>
              </a:rPr>
              <a:t>policy clauses an officer applies by hand</a:t>
            </a:r>
            <a:endParaRPr lang="en-US" sz="1400" dirty="0"/>
          </a:p>
        </p:txBody>
      </p:sp>
      <p:sp>
        <p:nvSpPr>
          <p:cNvPr id="9" name="Stat card 3"/>
          <p:cNvSpPr/>
          <p:nvPr/>
        </p:nvSpPr>
        <p:spPr>
          <a:xfrm>
            <a:off x="457200" y="3529584"/>
            <a:ext cx="3931920" cy="914400"/>
          </a:xfrm>
          <a:prstGeom prst="roundRect">
            <a:avLst>
              <a:gd name="adj" fmla="val 8000"/>
            </a:avLst>
          </a:prstGeom>
          <a:solidFill>
            <a:schemeClr val="bg2"/>
          </a:solidFill>
          <a:ln/>
        </p:spPr>
      </p:sp>
      <p:sp>
        <p:nvSpPr>
          <p:cNvPr id="10" name="Stat 3 value"/>
          <p:cNvSpPr txBox="1"/>
          <p:nvPr/>
        </p:nvSpPr>
        <p:spPr>
          <a:xfrm>
            <a:off x="640080" y="3621024"/>
            <a:ext cx="1600200" cy="73152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Varies</a:t>
            </a:r>
            <a:endParaRPr lang="en-US" sz="3000" dirty="0"/>
          </a:p>
        </p:txBody>
      </p:sp>
      <p:sp>
        <p:nvSpPr>
          <p:cNvPr id="11" name="Stat 3 label"/>
          <p:cNvSpPr txBox="1"/>
          <p:nvPr/>
        </p:nvSpPr>
        <p:spPr>
          <a:xfrm>
            <a:off x="2286000" y="3621024"/>
            <a:ext cx="1965960" cy="731520"/>
          </a:xfrm>
          <a:prstGeom prst="rect">
            <a:avLst/>
          </a:prstGeom>
          <a:noFill/>
          <a:ln/>
        </p:spPr>
        <p:txBody>
          <a:bodyPr wrap="square" lIns="0" tIns="0" rIns="0" bIns="0" rtlCol="0" anchor="ctr"/>
          <a:lstStyle/>
          <a:p>
            <a:pPr indent="0" marL="0">
              <a:buNone/>
            </a:pPr>
            <a:r>
              <a:rPr lang="en-US" sz="1400" dirty="0">
                <a:solidFill>
                  <a:schemeClr val="tx1"/>
                </a:solidFill>
              </a:rPr>
              <a:t>two officers can decide the same claim differently</a:t>
            </a:r>
            <a:endParaRPr lang="en-US" sz="1400" dirty="0"/>
          </a:p>
        </p:txBody>
      </p:sp>
      <p:sp>
        <p:nvSpPr>
          <p:cNvPr id="12" name="Why agents heading"/>
          <p:cNvSpPr txBox="1"/>
          <p:nvPr/>
        </p:nvSpPr>
        <p:spPr>
          <a:xfrm>
            <a:off x="4754880" y="1371600"/>
            <a:ext cx="3931920" cy="3657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Why this domain suits agents</a:t>
            </a:r>
            <a:endParaRPr lang="en-US" sz="2000" dirty="0"/>
          </a:p>
        </p:txBody>
      </p:sp>
      <p:sp>
        <p:nvSpPr>
          <p:cNvPr id="13" name="Badge 1"/>
          <p:cNvSpPr/>
          <p:nvPr/>
        </p:nvSpPr>
        <p:spPr>
          <a:xfrm>
            <a:off x="4754880" y="1956816"/>
            <a:ext cx="384048" cy="384048"/>
          </a:xfrm>
          <a:prstGeom prst="ellipse">
            <a:avLst/>
          </a:prstGeom>
          <a:solidFill>
            <a:schemeClr val="accent1"/>
          </a:solidFill>
          <a:ln/>
        </p:spPr>
      </p:sp>
      <p:sp>
        <p:nvSpPr>
          <p:cNvPr id="14" name="Badge 1 label"/>
          <p:cNvSpPr txBox="1"/>
          <p:nvPr/>
        </p:nvSpPr>
        <p:spPr>
          <a:xfrm>
            <a:off x="4754880" y="1956816"/>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1</a:t>
            </a:r>
            <a:endParaRPr lang="en-US" sz="1500" dirty="0"/>
          </a:p>
        </p:txBody>
      </p:sp>
      <p:sp>
        <p:nvSpPr>
          <p:cNvPr id="15" name="Why 1"/>
          <p:cNvSpPr txBox="1"/>
          <p:nvPr/>
        </p:nvSpPr>
        <p:spPr>
          <a:xfrm>
            <a:off x="5303520" y="1920240"/>
            <a:ext cx="3383280" cy="594360"/>
          </a:xfrm>
          <a:prstGeom prst="rect">
            <a:avLst/>
          </a:prstGeom>
          <a:noFill/>
          <a:ln/>
        </p:spPr>
        <p:txBody>
          <a:bodyPr wrap="square" lIns="0" tIns="0" rIns="0" bIns="0" rtlCol="0" anchor="t"/>
          <a:lstStyle/>
          <a:p>
            <a:pPr indent="0" marL="0">
              <a:buNone/>
            </a:pPr>
            <a:r>
              <a:rPr lang="en-US" sz="1600" b="1" dirty="0">
                <a:solidFill>
                  <a:schemeClr val="tx1"/>
                </a:solidFill>
              </a:rPr>
              <a:t>Rule-heavy</a:t>
            </a:r>
            <a:endParaRPr lang="en-US" sz="1600" dirty="0"/>
          </a:p>
          <a:p>
            <a:pPr indent="0" marL="0">
              <a:buNone/>
            </a:pPr>
            <a:r>
              <a:rPr lang="en-US" sz="1400" dirty="0">
                <a:solidFill>
                  <a:schemeClr val="tx2"/>
                </a:solidFill>
              </a:rPr>
              <a:t>waiting periods, sub-limits, exclusions</a:t>
            </a:r>
            <a:endParaRPr lang="en-US" sz="1600" dirty="0"/>
          </a:p>
        </p:txBody>
      </p:sp>
      <p:sp>
        <p:nvSpPr>
          <p:cNvPr id="16" name="Badge 2"/>
          <p:cNvSpPr/>
          <p:nvPr/>
        </p:nvSpPr>
        <p:spPr>
          <a:xfrm>
            <a:off x="4754880" y="2670048"/>
            <a:ext cx="384048" cy="384048"/>
          </a:xfrm>
          <a:prstGeom prst="ellipse">
            <a:avLst/>
          </a:prstGeom>
          <a:solidFill>
            <a:schemeClr val="accent1"/>
          </a:solidFill>
          <a:ln/>
        </p:spPr>
      </p:sp>
      <p:sp>
        <p:nvSpPr>
          <p:cNvPr id="17" name="Badge 2 label"/>
          <p:cNvSpPr txBox="1"/>
          <p:nvPr/>
        </p:nvSpPr>
        <p:spPr>
          <a:xfrm>
            <a:off x="4754880" y="2670048"/>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2</a:t>
            </a:r>
            <a:endParaRPr lang="en-US" sz="1500" dirty="0"/>
          </a:p>
        </p:txBody>
      </p:sp>
      <p:sp>
        <p:nvSpPr>
          <p:cNvPr id="18" name="Why 2"/>
          <p:cNvSpPr txBox="1"/>
          <p:nvPr/>
        </p:nvSpPr>
        <p:spPr>
          <a:xfrm>
            <a:off x="5303520" y="2633472"/>
            <a:ext cx="3383280" cy="594360"/>
          </a:xfrm>
          <a:prstGeom prst="rect">
            <a:avLst/>
          </a:prstGeom>
          <a:noFill/>
          <a:ln/>
        </p:spPr>
        <p:txBody>
          <a:bodyPr wrap="square" lIns="0" tIns="0" rIns="0" bIns="0" rtlCol="0" anchor="t"/>
          <a:lstStyle/>
          <a:p>
            <a:pPr indent="0" marL="0">
              <a:buNone/>
            </a:pPr>
            <a:r>
              <a:rPr lang="en-US" sz="1600" b="1" dirty="0">
                <a:solidFill>
                  <a:schemeClr val="tx1"/>
                </a:solidFill>
              </a:rPr>
              <a:t>Document-heavy</a:t>
            </a:r>
            <a:endParaRPr lang="en-US" sz="1600" dirty="0"/>
          </a:p>
          <a:p>
            <a:pPr indent="0" marL="0">
              <a:buNone/>
            </a:pPr>
            <a:r>
              <a:rPr lang="en-US" sz="1400" dirty="0">
                <a:solidFill>
                  <a:schemeClr val="tx2"/>
                </a:solidFill>
              </a:rPr>
              <a:t>itemised bills and discharge summaries</a:t>
            </a:r>
            <a:endParaRPr lang="en-US" sz="1600" dirty="0"/>
          </a:p>
        </p:txBody>
      </p:sp>
      <p:sp>
        <p:nvSpPr>
          <p:cNvPr id="19" name="Badge 3"/>
          <p:cNvSpPr/>
          <p:nvPr/>
        </p:nvSpPr>
        <p:spPr>
          <a:xfrm>
            <a:off x="4754880" y="3383280"/>
            <a:ext cx="384048" cy="384048"/>
          </a:xfrm>
          <a:prstGeom prst="ellipse">
            <a:avLst/>
          </a:prstGeom>
          <a:solidFill>
            <a:schemeClr val="accent1"/>
          </a:solidFill>
          <a:ln/>
        </p:spPr>
      </p:sp>
      <p:sp>
        <p:nvSpPr>
          <p:cNvPr id="20" name="Badge 3 label"/>
          <p:cNvSpPr txBox="1"/>
          <p:nvPr/>
        </p:nvSpPr>
        <p:spPr>
          <a:xfrm>
            <a:off x="4754880" y="338328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3</a:t>
            </a:r>
            <a:endParaRPr lang="en-US" sz="1500" dirty="0"/>
          </a:p>
        </p:txBody>
      </p:sp>
      <p:sp>
        <p:nvSpPr>
          <p:cNvPr id="21" name="Why 3"/>
          <p:cNvSpPr txBox="1"/>
          <p:nvPr/>
        </p:nvSpPr>
        <p:spPr>
          <a:xfrm>
            <a:off x="5303520" y="3346704"/>
            <a:ext cx="3383280" cy="594360"/>
          </a:xfrm>
          <a:prstGeom prst="rect">
            <a:avLst/>
          </a:prstGeom>
          <a:noFill/>
          <a:ln/>
        </p:spPr>
        <p:txBody>
          <a:bodyPr wrap="square" lIns="0" tIns="0" rIns="0" bIns="0" rtlCol="0" anchor="t"/>
          <a:lstStyle/>
          <a:p>
            <a:pPr indent="0" marL="0">
              <a:buNone/>
            </a:pPr>
            <a:r>
              <a:rPr lang="en-US" sz="1600" b="1" dirty="0">
                <a:solidFill>
                  <a:schemeClr val="tx1"/>
                </a:solidFill>
              </a:rPr>
              <a:t>Errors are costly</a:t>
            </a:r>
            <a:endParaRPr lang="en-US" sz="1600" dirty="0"/>
          </a:p>
          <a:p>
            <a:pPr indent="0" marL="0">
              <a:buNone/>
            </a:pPr>
            <a:r>
              <a:rPr lang="en-US" sz="1400" dirty="0">
                <a:solidFill>
                  <a:schemeClr val="tx2"/>
                </a:solidFill>
              </a:rPr>
              <a:t>wrong payouts and missed fraud</a:t>
            </a:r>
            <a:endParaRPr lang="en-US" sz="1600" dirty="0"/>
          </a:p>
        </p:txBody>
      </p:sp>
      <p:sp>
        <p:nvSpPr>
          <p:cNvPr id="22" name="Badge 4"/>
          <p:cNvSpPr/>
          <p:nvPr/>
        </p:nvSpPr>
        <p:spPr>
          <a:xfrm>
            <a:off x="4754880" y="4096512"/>
            <a:ext cx="384048" cy="384048"/>
          </a:xfrm>
          <a:prstGeom prst="ellipse">
            <a:avLst/>
          </a:prstGeom>
          <a:solidFill>
            <a:schemeClr val="accent1"/>
          </a:solidFill>
          <a:ln/>
        </p:spPr>
      </p:sp>
      <p:sp>
        <p:nvSpPr>
          <p:cNvPr id="23" name="Badge 4 label"/>
          <p:cNvSpPr txBox="1"/>
          <p:nvPr/>
        </p:nvSpPr>
        <p:spPr>
          <a:xfrm>
            <a:off x="4754880" y="4096512"/>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4</a:t>
            </a:r>
            <a:endParaRPr lang="en-US" sz="1500" dirty="0"/>
          </a:p>
        </p:txBody>
      </p:sp>
      <p:sp>
        <p:nvSpPr>
          <p:cNvPr id="24" name="Why 4"/>
          <p:cNvSpPr txBox="1"/>
          <p:nvPr/>
        </p:nvSpPr>
        <p:spPr>
          <a:xfrm>
            <a:off x="5303520" y="4059936"/>
            <a:ext cx="3383280" cy="594360"/>
          </a:xfrm>
          <a:prstGeom prst="rect">
            <a:avLst/>
          </a:prstGeom>
          <a:noFill/>
          <a:ln/>
        </p:spPr>
        <p:txBody>
          <a:bodyPr wrap="square" lIns="0" tIns="0" rIns="0" bIns="0" rtlCol="0" anchor="t"/>
          <a:lstStyle/>
          <a:p>
            <a:pPr indent="0" marL="0">
              <a:buNone/>
            </a:pPr>
            <a:r>
              <a:rPr lang="en-US" sz="1600" b="1" dirty="0">
                <a:solidFill>
                  <a:schemeClr val="tx1"/>
                </a:solidFill>
              </a:rPr>
              <a:t>Needs an audit trail</a:t>
            </a:r>
            <a:endParaRPr lang="en-US" sz="1600" dirty="0"/>
          </a:p>
          <a:p>
            <a:pPr indent="0" marL="0">
              <a:buNone/>
            </a:pPr>
            <a:r>
              <a:rPr lang="en-US" sz="1400" dirty="0">
                <a:solidFill>
                  <a:schemeClr val="tx2"/>
                </a:solidFill>
              </a:rPr>
              <a:t>every decision cites a clause</a:t>
            </a:r>
            <a:endParaRPr lang="en-US" sz="1600" dirty="0"/>
          </a:p>
        </p:txBody>
      </p:sp>
      <p:sp>
        <p:nvSpPr>
          <p:cNvPr id="25" name="Domain note"/>
          <p:cNvSpPr txBox="1"/>
          <p:nvPr/>
        </p:nvSpPr>
        <p:spPr>
          <a:xfrm>
            <a:off x="457200" y="4572000"/>
            <a:ext cx="7315200" cy="228600"/>
          </a:xfrm>
          <a:prstGeom prst="rect">
            <a:avLst/>
          </a:prstGeom>
          <a:noFill/>
          <a:ln/>
        </p:spPr>
        <p:txBody>
          <a:bodyPr wrap="square" lIns="0" tIns="0" rIns="0" bIns="0" rtlCol="0" anchor="t"/>
          <a:lstStyle/>
          <a:p>
            <a:pPr indent="0" marL="0">
              <a:buNone/>
            </a:pPr>
            <a:r>
              <a:rPr lang="en-US" sz="1200" i="1" dirty="0">
                <a:solidFill>
                  <a:schemeClr val="tx2"/>
                </a:solidFill>
              </a:rPr>
              <a:t>Domain: health insurance claims, in the back office of an insurer or TPA</a:t>
            </a:r>
            <a:endParaRPr lang="en-US" sz="12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777240"/>
          </a:xfrm>
          <a:prstGeom prst="rect">
            <a:avLst/>
          </a:prstGeom>
          <a:noFill/>
          <a:ln/>
        </p:spPr>
        <p:txBody>
          <a:bodyPr wrap="square" lIns="0" tIns="0" rIns="0" bIns="0" rtlCol="0" anchor="t"/>
          <a:lstStyle/>
          <a:p>
            <a:pPr algn="l" indent="0" marL="0">
              <a:buNone/>
            </a:pPr>
            <a:r>
              <a:rPr lang="en-US" sz="2800" b="1" dirty="0">
                <a:solidFill>
                  <a:schemeClr val="tx1"/>
                </a:solidFill>
              </a:rPr>
              <a:t>Five agents in a loop, not a pipe</a:t>
            </a:r>
            <a:endParaRPr lang="en-US" sz="2800" dirty="0"/>
          </a:p>
        </p:txBody>
      </p:sp>
      <p:sp>
        <p:nvSpPr>
          <p:cNvPr id="3" name="Agent card Planner"/>
          <p:cNvSpPr/>
          <p:nvPr/>
        </p:nvSpPr>
        <p:spPr>
          <a:xfrm>
            <a:off x="457200" y="1280160"/>
            <a:ext cx="1463040" cy="1600200"/>
          </a:xfrm>
          <a:prstGeom prst="roundRect">
            <a:avLst>
              <a:gd name="adj" fmla="val 5000"/>
            </a:avLst>
          </a:prstGeom>
          <a:solidFill>
            <a:schemeClr val="bg2"/>
          </a:solidFill>
          <a:ln/>
        </p:spPr>
      </p:sp>
      <p:sp>
        <p:nvSpPr>
          <p:cNvPr id="4" name="Agent outline Planner"/>
          <p:cNvSpPr/>
          <p:nvPr/>
        </p:nvSpPr>
        <p:spPr>
          <a:xfrm>
            <a:off x="457200" y="1280160"/>
            <a:ext cx="1463040" cy="1600200"/>
          </a:xfrm>
          <a:prstGeom prst="roundRect">
            <a:avLst>
              <a:gd name="adj" fmla="val 5000"/>
            </a:avLst>
          </a:prstGeom>
          <a:ln w="25400">
            <a:solidFill>
              <a:schemeClr val="accent1"/>
            </a:solidFill>
            <a:prstDash val="solid"/>
          </a:ln>
        </p:spPr>
      </p:sp>
      <p:sp>
        <p:nvSpPr>
          <p:cNvPr id="5" name="Badge 1"/>
          <p:cNvSpPr/>
          <p:nvPr/>
        </p:nvSpPr>
        <p:spPr>
          <a:xfrm>
            <a:off x="566928" y="1389888"/>
            <a:ext cx="347472" cy="347472"/>
          </a:xfrm>
          <a:prstGeom prst="ellipse">
            <a:avLst/>
          </a:prstGeom>
          <a:solidFill>
            <a:schemeClr val="accent1"/>
          </a:solidFill>
          <a:ln/>
        </p:spPr>
      </p:sp>
      <p:sp>
        <p:nvSpPr>
          <p:cNvPr id="6" name="Badge 1 label"/>
          <p:cNvSpPr txBox="1"/>
          <p:nvPr/>
        </p:nvSpPr>
        <p:spPr>
          <a:xfrm>
            <a:off x="566928" y="1389888"/>
            <a:ext cx="347472" cy="347472"/>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1</a:t>
            </a:r>
            <a:endParaRPr lang="en-US" sz="1500" dirty="0"/>
          </a:p>
        </p:txBody>
      </p:sp>
      <p:sp>
        <p:nvSpPr>
          <p:cNvPr id="7" name="Agent name Planner"/>
          <p:cNvSpPr txBox="1"/>
          <p:nvPr/>
        </p:nvSpPr>
        <p:spPr>
          <a:xfrm>
            <a:off x="969264" y="1389888"/>
            <a:ext cx="914400" cy="347472"/>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Planner</a:t>
            </a:r>
            <a:endParaRPr lang="en-US" sz="1600" dirty="0"/>
          </a:p>
        </p:txBody>
      </p:sp>
      <p:sp>
        <p:nvSpPr>
          <p:cNvPr id="8" name="Agent role Planner"/>
          <p:cNvSpPr txBox="1"/>
          <p:nvPr/>
        </p:nvSpPr>
        <p:spPr>
          <a:xfrm>
            <a:off x="566928" y="1874520"/>
            <a:ext cx="1261872" cy="914400"/>
          </a:xfrm>
          <a:prstGeom prst="rect">
            <a:avLst/>
          </a:prstGeom>
          <a:noFill/>
          <a:ln/>
        </p:spPr>
        <p:txBody>
          <a:bodyPr wrap="square" lIns="0" tIns="0" rIns="0" bIns="0" rtlCol="0" anchor="t"/>
          <a:lstStyle/>
          <a:p>
            <a:pPr indent="0" marL="0">
              <a:buNone/>
            </a:pPr>
            <a:r>
              <a:rPr lang="en-US" sz="1300" dirty="0">
                <a:solidFill>
                  <a:schemeClr val="tx1"/>
                </a:solidFill>
              </a:rPr>
              <a:t>Chooses a quick or thorough check from claim risk</a:t>
            </a:r>
            <a:endParaRPr lang="en-US" sz="1300" dirty="0"/>
          </a:p>
        </p:txBody>
      </p:sp>
      <p:sp>
        <p:nvSpPr>
          <p:cNvPr id="9" name="Flow 1"/>
          <p:cNvSpPr/>
          <p:nvPr/>
        </p:nvSpPr>
        <p:spPr>
          <a:xfrm>
            <a:off x="1920240" y="2075688"/>
            <a:ext cx="219456" cy="0"/>
          </a:xfrm>
          <a:prstGeom prst="line">
            <a:avLst/>
          </a:prstGeom>
          <a:noFill/>
          <a:ln w="28575">
            <a:solidFill>
              <a:schemeClr val="accent1"/>
            </a:solidFill>
            <a:prstDash val="solid"/>
            <a:tailEnd type="triangle"/>
          </a:ln>
        </p:spPr>
      </p:sp>
      <p:sp>
        <p:nvSpPr>
          <p:cNvPr id="10" name="Agent card Extractor"/>
          <p:cNvSpPr/>
          <p:nvPr/>
        </p:nvSpPr>
        <p:spPr>
          <a:xfrm>
            <a:off x="2139696" y="1280160"/>
            <a:ext cx="1463040" cy="1600200"/>
          </a:xfrm>
          <a:prstGeom prst="roundRect">
            <a:avLst>
              <a:gd name="adj" fmla="val 5000"/>
            </a:avLst>
          </a:prstGeom>
          <a:solidFill>
            <a:schemeClr val="bg2"/>
          </a:solidFill>
          <a:ln/>
        </p:spPr>
      </p:sp>
      <p:sp>
        <p:nvSpPr>
          <p:cNvPr id="11" name="Agent outline Extractor"/>
          <p:cNvSpPr/>
          <p:nvPr/>
        </p:nvSpPr>
        <p:spPr>
          <a:xfrm>
            <a:off x="2139696" y="1280160"/>
            <a:ext cx="1463040" cy="1600200"/>
          </a:xfrm>
          <a:prstGeom prst="roundRect">
            <a:avLst>
              <a:gd name="adj" fmla="val 5000"/>
            </a:avLst>
          </a:prstGeom>
          <a:ln w="25400">
            <a:solidFill>
              <a:schemeClr val="accent1"/>
            </a:solidFill>
            <a:prstDash val="solid"/>
          </a:ln>
        </p:spPr>
      </p:sp>
      <p:sp>
        <p:nvSpPr>
          <p:cNvPr id="12" name="Badge 2"/>
          <p:cNvSpPr/>
          <p:nvPr/>
        </p:nvSpPr>
        <p:spPr>
          <a:xfrm>
            <a:off x="2249424" y="1389888"/>
            <a:ext cx="347472" cy="347472"/>
          </a:xfrm>
          <a:prstGeom prst="ellipse">
            <a:avLst/>
          </a:prstGeom>
          <a:solidFill>
            <a:schemeClr val="accent1"/>
          </a:solidFill>
          <a:ln/>
        </p:spPr>
      </p:sp>
      <p:sp>
        <p:nvSpPr>
          <p:cNvPr id="13" name="Badge 2 label"/>
          <p:cNvSpPr txBox="1"/>
          <p:nvPr/>
        </p:nvSpPr>
        <p:spPr>
          <a:xfrm>
            <a:off x="2249424" y="1389888"/>
            <a:ext cx="347472" cy="347472"/>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2</a:t>
            </a:r>
            <a:endParaRPr lang="en-US" sz="1500" dirty="0"/>
          </a:p>
        </p:txBody>
      </p:sp>
      <p:sp>
        <p:nvSpPr>
          <p:cNvPr id="14" name="Agent name Extractor"/>
          <p:cNvSpPr txBox="1"/>
          <p:nvPr/>
        </p:nvSpPr>
        <p:spPr>
          <a:xfrm>
            <a:off x="2651760" y="1389888"/>
            <a:ext cx="914400" cy="347472"/>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Extractor</a:t>
            </a:r>
            <a:endParaRPr lang="en-US" sz="1600" dirty="0"/>
          </a:p>
        </p:txBody>
      </p:sp>
      <p:sp>
        <p:nvSpPr>
          <p:cNvPr id="15" name="Agent role Extractor"/>
          <p:cNvSpPr txBox="1"/>
          <p:nvPr/>
        </p:nvSpPr>
        <p:spPr>
          <a:xfrm>
            <a:off x="2249424" y="1874520"/>
            <a:ext cx="1261872" cy="914400"/>
          </a:xfrm>
          <a:prstGeom prst="rect">
            <a:avLst/>
          </a:prstGeom>
          <a:noFill/>
          <a:ln/>
        </p:spPr>
        <p:txBody>
          <a:bodyPr wrap="square" lIns="0" tIns="0" rIns="0" bIns="0" rtlCol="0" anchor="t"/>
          <a:lstStyle/>
          <a:p>
            <a:pPr indent="0" marL="0">
              <a:buNone/>
            </a:pPr>
            <a:r>
              <a:rPr lang="en-US" sz="1300" dirty="0">
                <a:solidFill>
                  <a:schemeClr val="tx1"/>
                </a:solidFill>
              </a:rPr>
              <a:t>Reads the summary, with a local language model</a:t>
            </a:r>
            <a:endParaRPr lang="en-US" sz="1300" dirty="0"/>
          </a:p>
        </p:txBody>
      </p:sp>
      <p:sp>
        <p:nvSpPr>
          <p:cNvPr id="16" name="Flow 2"/>
          <p:cNvSpPr/>
          <p:nvPr/>
        </p:nvSpPr>
        <p:spPr>
          <a:xfrm>
            <a:off x="3602736" y="2075688"/>
            <a:ext cx="219456" cy="0"/>
          </a:xfrm>
          <a:prstGeom prst="line">
            <a:avLst/>
          </a:prstGeom>
          <a:noFill/>
          <a:ln w="28575">
            <a:solidFill>
              <a:schemeClr val="accent1"/>
            </a:solidFill>
            <a:prstDash val="solid"/>
            <a:tailEnd type="triangle"/>
          </a:ln>
        </p:spPr>
      </p:sp>
      <p:sp>
        <p:nvSpPr>
          <p:cNvPr id="17" name="Agent card Executor"/>
          <p:cNvSpPr/>
          <p:nvPr/>
        </p:nvSpPr>
        <p:spPr>
          <a:xfrm>
            <a:off x="3822192" y="1280160"/>
            <a:ext cx="1463040" cy="1600200"/>
          </a:xfrm>
          <a:prstGeom prst="roundRect">
            <a:avLst>
              <a:gd name="adj" fmla="val 5000"/>
            </a:avLst>
          </a:prstGeom>
          <a:solidFill>
            <a:schemeClr val="bg2"/>
          </a:solidFill>
          <a:ln/>
        </p:spPr>
      </p:sp>
      <p:sp>
        <p:nvSpPr>
          <p:cNvPr id="18" name="Agent outline Executor"/>
          <p:cNvSpPr/>
          <p:nvPr/>
        </p:nvSpPr>
        <p:spPr>
          <a:xfrm>
            <a:off x="3822192" y="1280160"/>
            <a:ext cx="1463040" cy="1600200"/>
          </a:xfrm>
          <a:prstGeom prst="roundRect">
            <a:avLst>
              <a:gd name="adj" fmla="val 5000"/>
            </a:avLst>
          </a:prstGeom>
          <a:ln w="25400">
            <a:solidFill>
              <a:schemeClr val="accent1"/>
            </a:solidFill>
            <a:prstDash val="solid"/>
          </a:ln>
        </p:spPr>
      </p:sp>
      <p:sp>
        <p:nvSpPr>
          <p:cNvPr id="19" name="Badge 3"/>
          <p:cNvSpPr/>
          <p:nvPr/>
        </p:nvSpPr>
        <p:spPr>
          <a:xfrm>
            <a:off x="3931920" y="1389888"/>
            <a:ext cx="347472" cy="347472"/>
          </a:xfrm>
          <a:prstGeom prst="ellipse">
            <a:avLst/>
          </a:prstGeom>
          <a:solidFill>
            <a:schemeClr val="accent1"/>
          </a:solidFill>
          <a:ln/>
        </p:spPr>
      </p:sp>
      <p:sp>
        <p:nvSpPr>
          <p:cNvPr id="20" name="Badge 3 label"/>
          <p:cNvSpPr txBox="1"/>
          <p:nvPr/>
        </p:nvSpPr>
        <p:spPr>
          <a:xfrm>
            <a:off x="3931920" y="1389888"/>
            <a:ext cx="347472" cy="347472"/>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3</a:t>
            </a:r>
            <a:endParaRPr lang="en-US" sz="1500" dirty="0"/>
          </a:p>
        </p:txBody>
      </p:sp>
      <p:sp>
        <p:nvSpPr>
          <p:cNvPr id="21" name="Agent name Executor"/>
          <p:cNvSpPr txBox="1"/>
          <p:nvPr/>
        </p:nvSpPr>
        <p:spPr>
          <a:xfrm>
            <a:off x="4334256" y="1389888"/>
            <a:ext cx="914400" cy="347472"/>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Executor</a:t>
            </a:r>
            <a:endParaRPr lang="en-US" sz="1600" dirty="0"/>
          </a:p>
        </p:txBody>
      </p:sp>
      <p:sp>
        <p:nvSpPr>
          <p:cNvPr id="22" name="Agent role Executor"/>
          <p:cNvSpPr txBox="1"/>
          <p:nvPr/>
        </p:nvSpPr>
        <p:spPr>
          <a:xfrm>
            <a:off x="3931920" y="1874520"/>
            <a:ext cx="1261872" cy="914400"/>
          </a:xfrm>
          <a:prstGeom prst="rect">
            <a:avLst/>
          </a:prstGeom>
          <a:noFill/>
          <a:ln/>
        </p:spPr>
        <p:txBody>
          <a:bodyPr wrap="square" lIns="0" tIns="0" rIns="0" bIns="0" rtlCol="0" anchor="t"/>
          <a:lstStyle/>
          <a:p>
            <a:pPr indent="0" marL="0">
              <a:buNone/>
            </a:pPr>
            <a:r>
              <a:rPr lang="en-US" sz="1300" dirty="0">
                <a:solidFill>
                  <a:schemeClr val="tx1"/>
                </a:solidFill>
              </a:rPr>
              <a:t>Runs checks with Python tools</a:t>
            </a:r>
            <a:endParaRPr lang="en-US" sz="1300" dirty="0"/>
          </a:p>
        </p:txBody>
      </p:sp>
      <p:sp>
        <p:nvSpPr>
          <p:cNvPr id="23" name="Flow 3"/>
          <p:cNvSpPr/>
          <p:nvPr/>
        </p:nvSpPr>
        <p:spPr>
          <a:xfrm>
            <a:off x="5285232" y="2075688"/>
            <a:ext cx="219456" cy="0"/>
          </a:xfrm>
          <a:prstGeom prst="line">
            <a:avLst/>
          </a:prstGeom>
          <a:noFill/>
          <a:ln w="28575">
            <a:solidFill>
              <a:schemeClr val="accent1"/>
            </a:solidFill>
            <a:prstDash val="solid"/>
            <a:tailEnd type="triangle"/>
          </a:ln>
        </p:spPr>
      </p:sp>
      <p:sp>
        <p:nvSpPr>
          <p:cNvPr id="24" name="Agent card Critic"/>
          <p:cNvSpPr/>
          <p:nvPr/>
        </p:nvSpPr>
        <p:spPr>
          <a:xfrm>
            <a:off x="5504688" y="1280160"/>
            <a:ext cx="1463040" cy="1600200"/>
          </a:xfrm>
          <a:prstGeom prst="roundRect">
            <a:avLst>
              <a:gd name="adj" fmla="val 5000"/>
            </a:avLst>
          </a:prstGeom>
          <a:solidFill>
            <a:schemeClr val="bg2"/>
          </a:solidFill>
          <a:ln/>
        </p:spPr>
      </p:sp>
      <p:sp>
        <p:nvSpPr>
          <p:cNvPr id="25" name="Agent outline Critic"/>
          <p:cNvSpPr/>
          <p:nvPr/>
        </p:nvSpPr>
        <p:spPr>
          <a:xfrm>
            <a:off x="5504688" y="1280160"/>
            <a:ext cx="1463040" cy="1600200"/>
          </a:xfrm>
          <a:prstGeom prst="roundRect">
            <a:avLst>
              <a:gd name="adj" fmla="val 5000"/>
            </a:avLst>
          </a:prstGeom>
          <a:ln w="25400">
            <a:solidFill>
              <a:schemeClr val="accent2"/>
            </a:solidFill>
            <a:prstDash val="solid"/>
          </a:ln>
        </p:spPr>
      </p:sp>
      <p:sp>
        <p:nvSpPr>
          <p:cNvPr id="26" name="Badge 4"/>
          <p:cNvSpPr/>
          <p:nvPr/>
        </p:nvSpPr>
        <p:spPr>
          <a:xfrm>
            <a:off x="5614416" y="1389888"/>
            <a:ext cx="347472" cy="347472"/>
          </a:xfrm>
          <a:prstGeom prst="ellipse">
            <a:avLst/>
          </a:prstGeom>
          <a:solidFill>
            <a:schemeClr val="accent2"/>
          </a:solidFill>
          <a:ln/>
        </p:spPr>
      </p:sp>
      <p:sp>
        <p:nvSpPr>
          <p:cNvPr id="27" name="Badge 4 label"/>
          <p:cNvSpPr txBox="1"/>
          <p:nvPr/>
        </p:nvSpPr>
        <p:spPr>
          <a:xfrm>
            <a:off x="5614416" y="1389888"/>
            <a:ext cx="347472" cy="347472"/>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4</a:t>
            </a:r>
            <a:endParaRPr lang="en-US" sz="1500" dirty="0"/>
          </a:p>
        </p:txBody>
      </p:sp>
      <p:sp>
        <p:nvSpPr>
          <p:cNvPr id="28" name="Agent name Critic"/>
          <p:cNvSpPr txBox="1"/>
          <p:nvPr/>
        </p:nvSpPr>
        <p:spPr>
          <a:xfrm>
            <a:off x="6016752" y="1389888"/>
            <a:ext cx="914400" cy="347472"/>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Critic</a:t>
            </a:r>
            <a:endParaRPr lang="en-US" sz="1600" dirty="0"/>
          </a:p>
        </p:txBody>
      </p:sp>
      <p:sp>
        <p:nvSpPr>
          <p:cNvPr id="29" name="Agent role Critic"/>
          <p:cNvSpPr txBox="1"/>
          <p:nvPr/>
        </p:nvSpPr>
        <p:spPr>
          <a:xfrm>
            <a:off x="5614416" y="1874520"/>
            <a:ext cx="1261872" cy="914400"/>
          </a:xfrm>
          <a:prstGeom prst="rect">
            <a:avLst/>
          </a:prstGeom>
          <a:noFill/>
          <a:ln/>
        </p:spPr>
        <p:txBody>
          <a:bodyPr wrap="square" lIns="0" tIns="0" rIns="0" bIns="0" rtlCol="0" anchor="t"/>
          <a:lstStyle/>
          <a:p>
            <a:pPr indent="0" marL="0">
              <a:buNone/>
            </a:pPr>
            <a:r>
              <a:rPr lang="en-US" sz="1300" dirty="0">
                <a:solidFill>
                  <a:schemeClr val="tx1"/>
                </a:solidFill>
              </a:rPr>
              <a:t>Re-verifies maths, limits, fraud cover</a:t>
            </a:r>
            <a:endParaRPr lang="en-US" sz="1300" dirty="0"/>
          </a:p>
        </p:txBody>
      </p:sp>
      <p:sp>
        <p:nvSpPr>
          <p:cNvPr id="30" name="Flow 4"/>
          <p:cNvSpPr/>
          <p:nvPr/>
        </p:nvSpPr>
        <p:spPr>
          <a:xfrm>
            <a:off x="6967728" y="2075688"/>
            <a:ext cx="219456" cy="0"/>
          </a:xfrm>
          <a:prstGeom prst="line">
            <a:avLst/>
          </a:prstGeom>
          <a:noFill/>
          <a:ln w="28575">
            <a:solidFill>
              <a:schemeClr val="accent1"/>
            </a:solidFill>
            <a:prstDash val="solid"/>
            <a:tailEnd type="triangle"/>
          </a:ln>
        </p:spPr>
      </p:sp>
      <p:sp>
        <p:nvSpPr>
          <p:cNvPr id="31" name="Agent card Decision"/>
          <p:cNvSpPr/>
          <p:nvPr/>
        </p:nvSpPr>
        <p:spPr>
          <a:xfrm>
            <a:off x="7187184" y="1280160"/>
            <a:ext cx="1463040" cy="1600200"/>
          </a:xfrm>
          <a:prstGeom prst="roundRect">
            <a:avLst>
              <a:gd name="adj" fmla="val 5000"/>
            </a:avLst>
          </a:prstGeom>
          <a:solidFill>
            <a:schemeClr val="bg2"/>
          </a:solidFill>
          <a:ln/>
        </p:spPr>
      </p:sp>
      <p:sp>
        <p:nvSpPr>
          <p:cNvPr id="32" name="Agent outline Decision"/>
          <p:cNvSpPr/>
          <p:nvPr/>
        </p:nvSpPr>
        <p:spPr>
          <a:xfrm>
            <a:off x="7187184" y="1280160"/>
            <a:ext cx="1463040" cy="1600200"/>
          </a:xfrm>
          <a:prstGeom prst="roundRect">
            <a:avLst>
              <a:gd name="adj" fmla="val 5000"/>
            </a:avLst>
          </a:prstGeom>
          <a:ln w="25400">
            <a:solidFill>
              <a:schemeClr val="accent1"/>
            </a:solidFill>
            <a:prstDash val="solid"/>
          </a:ln>
        </p:spPr>
      </p:sp>
      <p:sp>
        <p:nvSpPr>
          <p:cNvPr id="33" name="Badge 5"/>
          <p:cNvSpPr/>
          <p:nvPr/>
        </p:nvSpPr>
        <p:spPr>
          <a:xfrm>
            <a:off x="7296912" y="1389888"/>
            <a:ext cx="347472" cy="347472"/>
          </a:xfrm>
          <a:prstGeom prst="ellipse">
            <a:avLst/>
          </a:prstGeom>
          <a:solidFill>
            <a:schemeClr val="accent1"/>
          </a:solidFill>
          <a:ln/>
        </p:spPr>
      </p:sp>
      <p:sp>
        <p:nvSpPr>
          <p:cNvPr id="34" name="Badge 5 label"/>
          <p:cNvSpPr txBox="1"/>
          <p:nvPr/>
        </p:nvSpPr>
        <p:spPr>
          <a:xfrm>
            <a:off x="7296912" y="1389888"/>
            <a:ext cx="347472" cy="347472"/>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5</a:t>
            </a:r>
            <a:endParaRPr lang="en-US" sz="1500" dirty="0"/>
          </a:p>
        </p:txBody>
      </p:sp>
      <p:sp>
        <p:nvSpPr>
          <p:cNvPr id="35" name="Agent name Decision"/>
          <p:cNvSpPr txBox="1"/>
          <p:nvPr/>
        </p:nvSpPr>
        <p:spPr>
          <a:xfrm>
            <a:off x="7699248" y="1389888"/>
            <a:ext cx="914400" cy="347472"/>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Decision</a:t>
            </a:r>
            <a:endParaRPr lang="en-US" sz="1600" dirty="0"/>
          </a:p>
        </p:txBody>
      </p:sp>
      <p:sp>
        <p:nvSpPr>
          <p:cNvPr id="36" name="Agent role Decision"/>
          <p:cNvSpPr txBox="1"/>
          <p:nvPr/>
        </p:nvSpPr>
        <p:spPr>
          <a:xfrm>
            <a:off x="7296912" y="1874520"/>
            <a:ext cx="1261872" cy="914400"/>
          </a:xfrm>
          <a:prstGeom prst="rect">
            <a:avLst/>
          </a:prstGeom>
          <a:noFill/>
          <a:ln/>
        </p:spPr>
        <p:txBody>
          <a:bodyPr wrap="square" lIns="0" tIns="0" rIns="0" bIns="0" rtlCol="0" anchor="t"/>
          <a:lstStyle/>
          <a:p>
            <a:pPr indent="0" marL="0">
              <a:buNone/>
            </a:pPr>
            <a:r>
              <a:rPr lang="en-US" sz="1300" dirty="0">
                <a:solidFill>
                  <a:schemeClr val="tx1"/>
                </a:solidFill>
              </a:rPr>
              <a:t>Applies precedence, cites clauses</a:t>
            </a:r>
            <a:endParaRPr lang="en-US" sz="1300" dirty="0"/>
          </a:p>
        </p:txBody>
      </p:sp>
      <p:sp>
        <p:nvSpPr>
          <p:cNvPr id="37" name="Loop down"/>
          <p:cNvSpPr/>
          <p:nvPr/>
        </p:nvSpPr>
        <p:spPr>
          <a:xfrm>
            <a:off x="6236208" y="2880360"/>
            <a:ext cx="0" cy="365760"/>
          </a:xfrm>
          <a:prstGeom prst="line">
            <a:avLst/>
          </a:prstGeom>
          <a:noFill/>
          <a:ln w="28575">
            <a:solidFill>
              <a:schemeClr val="accent2"/>
            </a:solidFill>
            <a:prstDash val="dash"/>
          </a:ln>
        </p:spPr>
      </p:sp>
      <p:sp>
        <p:nvSpPr>
          <p:cNvPr id="38" name="Loop across"/>
          <p:cNvSpPr/>
          <p:nvPr/>
        </p:nvSpPr>
        <p:spPr>
          <a:xfrm>
            <a:off x="1188720" y="3246120"/>
            <a:ext cx="5047488" cy="0"/>
          </a:xfrm>
          <a:prstGeom prst="line">
            <a:avLst/>
          </a:prstGeom>
          <a:noFill/>
          <a:ln w="28575">
            <a:solidFill>
              <a:schemeClr val="accent2"/>
            </a:solidFill>
            <a:prstDash val="dash"/>
          </a:ln>
        </p:spPr>
      </p:sp>
      <p:sp>
        <p:nvSpPr>
          <p:cNvPr id="39" name="Loop up"/>
          <p:cNvSpPr/>
          <p:nvPr/>
        </p:nvSpPr>
        <p:spPr>
          <a:xfrm flipV="1">
            <a:off x="1188720" y="2880360"/>
            <a:ext cx="0" cy="365760"/>
          </a:xfrm>
          <a:prstGeom prst="line">
            <a:avLst/>
          </a:prstGeom>
          <a:noFill/>
          <a:ln w="28575">
            <a:solidFill>
              <a:schemeClr val="accent2"/>
            </a:solidFill>
            <a:prstDash val="dash"/>
            <a:tailEnd type="triangle"/>
          </a:ln>
        </p:spPr>
      </p:sp>
      <p:sp>
        <p:nvSpPr>
          <p:cNvPr id="40" name="Replan pill"/>
          <p:cNvSpPr/>
          <p:nvPr/>
        </p:nvSpPr>
        <p:spPr>
          <a:xfrm>
            <a:off x="2148840" y="3063240"/>
            <a:ext cx="3931920" cy="365760"/>
          </a:xfrm>
          <a:prstGeom prst="roundRect">
            <a:avLst>
              <a:gd name="adj" fmla="val 50000"/>
            </a:avLst>
          </a:prstGeom>
          <a:solidFill>
            <a:schemeClr val="bg1"/>
          </a:solidFill>
          <a:ln w="19050">
            <a:solidFill>
              <a:schemeClr val="accent2"/>
            </a:solidFill>
            <a:prstDash val="solid"/>
          </a:ln>
        </p:spPr>
      </p:sp>
      <p:sp>
        <p:nvSpPr>
          <p:cNvPr id="41" name="Replan label"/>
          <p:cNvSpPr txBox="1"/>
          <p:nvPr/>
        </p:nvSpPr>
        <p:spPr>
          <a:xfrm>
            <a:off x="2148840" y="3063240"/>
            <a:ext cx="3931920" cy="365760"/>
          </a:xfrm>
          <a:prstGeom prst="rect">
            <a:avLst/>
          </a:prstGeom>
          <a:noFill/>
          <a:ln/>
        </p:spPr>
        <p:txBody>
          <a:bodyPr wrap="square" lIns="0" tIns="0" rIns="0" bIns="0" rtlCol="0" anchor="ctr"/>
          <a:lstStyle/>
          <a:p>
            <a:pPr algn="ctr" indent="0" marL="0">
              <a:buNone/>
            </a:pPr>
            <a:r>
              <a:rPr lang="en-US" sz="1300" b="1" dirty="0">
                <a:solidFill>
                  <a:schemeClr val="accent2"/>
                </a:solidFill>
              </a:rPr>
              <a:t>REPLAN: add checks or recompute, max 2 rounds</a:t>
            </a:r>
            <a:endParaRPr lang="en-US" sz="1300" dirty="0"/>
          </a:p>
        </p:txBody>
      </p:sp>
      <p:sp>
        <p:nvSpPr>
          <p:cNvPr id="42" name="Tool belt"/>
          <p:cNvSpPr/>
          <p:nvPr/>
        </p:nvSpPr>
        <p:spPr>
          <a:xfrm>
            <a:off x="457200" y="3657600"/>
            <a:ext cx="8229600" cy="868680"/>
          </a:xfrm>
          <a:prstGeom prst="roundRect">
            <a:avLst>
              <a:gd name="adj" fmla="val 8421"/>
            </a:avLst>
          </a:prstGeom>
          <a:solidFill>
            <a:schemeClr val="bg2"/>
          </a:solidFill>
          <a:ln/>
        </p:spPr>
      </p:sp>
      <p:sp>
        <p:nvSpPr>
          <p:cNvPr id="43" name="Tool belt text"/>
          <p:cNvSpPr txBox="1"/>
          <p:nvPr/>
        </p:nvSpPr>
        <p:spPr>
          <a:xfrm>
            <a:off x="640080" y="3749040"/>
            <a:ext cx="7863840" cy="731520"/>
          </a:xfrm>
          <a:prstGeom prst="rect">
            <a:avLst/>
          </a:prstGeom>
          <a:noFill/>
          <a:ln/>
        </p:spPr>
        <p:txBody>
          <a:bodyPr wrap="square" lIns="0" tIns="0" rIns="0" bIns="0" rtlCol="0" anchor="ctr"/>
          <a:lstStyle/>
          <a:p>
            <a:pPr indent="0" marL="0">
              <a:buNone/>
            </a:pPr>
            <a:r>
              <a:rPr lang="en-US" sz="1200" b="1" dirty="0">
                <a:solidFill>
                  <a:schemeClr val="tx2"/>
                </a:solidFill>
              </a:rPr>
              <a:t>Executor tools:  </a:t>
            </a:r>
            <a:pPr indent="0" marL="0">
              <a:buNone/>
            </a:pPr>
            <a:r>
              <a:rPr lang="en-US" sz="1200" dirty="0">
                <a:solidFill>
                  <a:schemeClr val="tx1"/>
                </a:solidFill>
              </a:rPr>
              <a:t>documents, policy status, waiting periods, exclusions, duplicates, filing window, procedure match, bill integrity, high value, tariff check, fraud score, payout</a:t>
            </a:r>
            <a:endParaRPr lang="en-US" sz="1200" dirty="0"/>
          </a:p>
          <a:p>
            <a:pPr indent="0" marL="0">
              <a:buNone/>
            </a:pPr>
            <a:r>
              <a:rPr lang="en-US" sz="1200" dirty="0">
                <a:solidFill>
                  <a:schemeClr val="tx2"/>
                </a:solidFill>
              </a:rPr>
              <a:t>Plus a local language model (Ollama, llama3.2:3b) and synthetic policy, member and hospital stores.</a:t>
            </a:r>
            <a:endParaRPr lang="en-US" sz="12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777240"/>
          </a:xfrm>
          <a:prstGeom prst="rect">
            <a:avLst/>
          </a:prstGeom>
          <a:noFill/>
          <a:ln/>
        </p:spPr>
        <p:txBody>
          <a:bodyPr wrap="square" lIns="0" tIns="0" rIns="0" bIns="0" rtlCol="0" anchor="t"/>
          <a:lstStyle/>
          <a:p>
            <a:pPr algn="l" indent="0" marL="0">
              <a:buNone/>
            </a:pPr>
            <a:r>
              <a:rPr lang="en-US" sz="2800" b="1" dirty="0">
                <a:solidFill>
                  <a:schemeClr val="tx1"/>
                </a:solidFill>
              </a:rPr>
              <a:t>Watch it run: the Critic sends a claim back</a:t>
            </a:r>
            <a:endParaRPr lang="en-US" sz="2800" dirty="0"/>
          </a:p>
        </p:txBody>
      </p:sp>
      <p:pic>
        <p:nvPicPr>
          <p:cNvPr id="3" name="App pipeline screenshot" descr="The live app showing five agents, with a dashed re-plan arrow from the Critic back to the Planner and a re-plan counter of 1">    </p:cNvPr>
          <p:cNvPicPr>
            <a:picLocks noChangeAspect="1"/>
          </p:cNvPicPr>
          <p:nvPr/>
        </p:nvPicPr>
        <p:blipFill>
          <a:blip r:embed="rId1"/>
          <a:stretch>
            <a:fillRect/>
          </a:stretch>
        </p:blipFill>
        <p:spPr>
          <a:xfrm>
            <a:off x="457200" y="1097280"/>
            <a:ext cx="8229600" cy="2370779"/>
          </a:xfrm>
          <a:prstGeom prst="rect">
            <a:avLst/>
          </a:prstGeom>
        </p:spPr>
      </p:pic>
      <p:sp>
        <p:nvSpPr>
          <p:cNvPr id="4" name="Badge 1"/>
          <p:cNvSpPr/>
          <p:nvPr/>
        </p:nvSpPr>
        <p:spPr>
          <a:xfrm>
            <a:off x="457200" y="3657600"/>
            <a:ext cx="347472" cy="347472"/>
          </a:xfrm>
          <a:prstGeom prst="ellipse">
            <a:avLst/>
          </a:prstGeom>
          <a:solidFill>
            <a:schemeClr val="accent1"/>
          </a:solidFill>
          <a:ln/>
        </p:spPr>
      </p:sp>
      <p:sp>
        <p:nvSpPr>
          <p:cNvPr id="5" name="Badge 1 label"/>
          <p:cNvSpPr txBox="1"/>
          <p:nvPr/>
        </p:nvSpPr>
        <p:spPr>
          <a:xfrm>
            <a:off x="457200" y="3657600"/>
            <a:ext cx="347472" cy="347472"/>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1</a:t>
            </a:r>
            <a:endParaRPr lang="en-US" sz="1500" dirty="0"/>
          </a:p>
        </p:txBody>
      </p:sp>
      <p:sp>
        <p:nvSpPr>
          <p:cNvPr id="6" name="Callout 1"/>
          <p:cNvSpPr txBox="1"/>
          <p:nvPr/>
        </p:nvSpPr>
        <p:spPr>
          <a:xfrm>
            <a:off x="896112" y="3639312"/>
            <a:ext cx="2240280" cy="914400"/>
          </a:xfrm>
          <a:prstGeom prst="rect">
            <a:avLst/>
          </a:prstGeom>
          <a:noFill/>
          <a:ln/>
        </p:spPr>
        <p:txBody>
          <a:bodyPr wrap="square" lIns="0" tIns="0" rIns="0" bIns="0" rtlCol="0" anchor="t"/>
          <a:lstStyle/>
          <a:p>
            <a:pPr indent="0" marL="0">
              <a:buNone/>
            </a:pPr>
            <a:r>
              <a:rPr lang="en-US" sz="1300" dirty="0">
                <a:solidFill>
                  <a:schemeClr val="tx1"/>
                </a:solidFill>
              </a:rPr>
              <a:t>A small claim at a normal hospital gets a quick plan, with no fraud check.</a:t>
            </a:r>
            <a:endParaRPr lang="en-US" sz="1300" dirty="0"/>
          </a:p>
        </p:txBody>
      </p:sp>
      <p:sp>
        <p:nvSpPr>
          <p:cNvPr id="7" name="Badge 2"/>
          <p:cNvSpPr/>
          <p:nvPr/>
        </p:nvSpPr>
        <p:spPr>
          <a:xfrm>
            <a:off x="3246120" y="3657600"/>
            <a:ext cx="347472" cy="347472"/>
          </a:xfrm>
          <a:prstGeom prst="ellipse">
            <a:avLst/>
          </a:prstGeom>
          <a:solidFill>
            <a:schemeClr val="accent2"/>
          </a:solidFill>
          <a:ln/>
        </p:spPr>
      </p:sp>
      <p:sp>
        <p:nvSpPr>
          <p:cNvPr id="8" name="Badge 2 label"/>
          <p:cNvSpPr txBox="1"/>
          <p:nvPr/>
        </p:nvSpPr>
        <p:spPr>
          <a:xfrm>
            <a:off x="3246120" y="3657600"/>
            <a:ext cx="347472" cy="347472"/>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2</a:t>
            </a:r>
            <a:endParaRPr lang="en-US" sz="1500" dirty="0"/>
          </a:p>
        </p:txBody>
      </p:sp>
      <p:sp>
        <p:nvSpPr>
          <p:cNvPr id="9" name="Callout 2"/>
          <p:cNvSpPr txBox="1"/>
          <p:nvPr/>
        </p:nvSpPr>
        <p:spPr>
          <a:xfrm>
            <a:off x="3685032" y="3639312"/>
            <a:ext cx="2240280" cy="914400"/>
          </a:xfrm>
          <a:prstGeom prst="rect">
            <a:avLst/>
          </a:prstGeom>
          <a:noFill/>
          <a:ln/>
        </p:spPr>
        <p:txBody>
          <a:bodyPr wrap="square" lIns="0" tIns="0" rIns="0" bIns="0" rtlCol="0" anchor="t"/>
          <a:lstStyle/>
          <a:p>
            <a:pPr indent="0" marL="0">
              <a:buNone/>
            </a:pPr>
            <a:r>
              <a:rPr lang="en-US" sz="1300" dirty="0">
                <a:solidFill>
                  <a:schemeClr val="tx1"/>
                </a:solidFill>
              </a:rPr>
              <a:t>The Critic spots a bill 2.4 times the normal cost and sends it back (dashed arrow).</a:t>
            </a:r>
            <a:endParaRPr lang="en-US" sz="1300" dirty="0"/>
          </a:p>
        </p:txBody>
      </p:sp>
      <p:sp>
        <p:nvSpPr>
          <p:cNvPr id="10" name="Badge 3"/>
          <p:cNvSpPr/>
          <p:nvPr/>
        </p:nvSpPr>
        <p:spPr>
          <a:xfrm>
            <a:off x="6035040" y="3657600"/>
            <a:ext cx="347472" cy="347472"/>
          </a:xfrm>
          <a:prstGeom prst="ellipse">
            <a:avLst/>
          </a:prstGeom>
          <a:solidFill>
            <a:schemeClr val="accent1"/>
          </a:solidFill>
          <a:ln/>
        </p:spPr>
      </p:sp>
      <p:sp>
        <p:nvSpPr>
          <p:cNvPr id="11" name="Badge 3 label"/>
          <p:cNvSpPr txBox="1"/>
          <p:nvPr/>
        </p:nvSpPr>
        <p:spPr>
          <a:xfrm>
            <a:off x="6035040" y="3657600"/>
            <a:ext cx="347472" cy="347472"/>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3</a:t>
            </a:r>
            <a:endParaRPr lang="en-US" sz="1500" dirty="0"/>
          </a:p>
        </p:txBody>
      </p:sp>
      <p:sp>
        <p:nvSpPr>
          <p:cNvPr id="12" name="Callout 3"/>
          <p:cNvSpPr txBox="1"/>
          <p:nvPr/>
        </p:nvSpPr>
        <p:spPr>
          <a:xfrm>
            <a:off x="6473952" y="3639312"/>
            <a:ext cx="2240280" cy="914400"/>
          </a:xfrm>
          <a:prstGeom prst="rect">
            <a:avLst/>
          </a:prstGeom>
          <a:noFill/>
          <a:ln/>
        </p:spPr>
        <p:txBody>
          <a:bodyPr wrap="square" lIns="0" tIns="0" rIns="0" bIns="0" rtlCol="0" anchor="t"/>
          <a:lstStyle/>
          <a:p>
            <a:pPr indent="0" marL="0">
              <a:buNone/>
            </a:pPr>
            <a:r>
              <a:rPr lang="en-US" sz="1300" dirty="0">
                <a:solidFill>
                  <a:schemeClr val="tx1"/>
                </a:solidFill>
              </a:rPr>
              <a:t>Second round adds the fraud check. Score 60 out of 100, so a person decides.</a:t>
            </a:r>
            <a:endParaRPr lang="en-US" sz="13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777240"/>
          </a:xfrm>
          <a:prstGeom prst="rect">
            <a:avLst/>
          </a:prstGeom>
          <a:noFill/>
          <a:ln/>
        </p:spPr>
        <p:txBody>
          <a:bodyPr wrap="square" lIns="0" tIns="0" rIns="0" bIns="0" rtlCol="0" anchor="t"/>
          <a:lstStyle/>
          <a:p>
            <a:pPr algn="l" indent="0" marL="0">
              <a:buNone/>
            </a:pPr>
            <a:r>
              <a:rPr lang="en-US" sz="2800" b="1" dirty="0">
                <a:solidFill>
                  <a:schemeClr val="tx1"/>
                </a:solidFill>
              </a:rPr>
              <a:t>The app explains every decision in plain English</a:t>
            </a:r>
            <a:endParaRPr lang="en-US" sz="2800" dirty="0"/>
          </a:p>
        </p:txBody>
      </p:sp>
      <p:pic>
        <p:nvPicPr>
          <p:cNvPr id="3" name="App story screenshot" descr="The live app's plain-English account of what the Executor, Critic and Decision agents did for claim CLM-26-0019">    </p:cNvPr>
          <p:cNvPicPr>
            <a:picLocks noChangeAspect="1"/>
          </p:cNvPicPr>
          <p:nvPr/>
        </p:nvPicPr>
        <p:blipFill>
          <a:blip r:embed="rId1"/>
          <a:stretch>
            <a:fillRect/>
          </a:stretch>
        </p:blipFill>
        <p:spPr>
          <a:xfrm>
            <a:off x="640080" y="1097280"/>
            <a:ext cx="7863840" cy="3267370"/>
          </a:xfrm>
          <a:prstGeom prst="rect">
            <a:avLst/>
          </a:prstGeom>
        </p:spPr>
      </p:pic>
      <p:sp>
        <p:nvSpPr>
          <p:cNvPr id="4" name="Story caption"/>
          <p:cNvSpPr txBox="1"/>
          <p:nvPr/>
        </p:nvSpPr>
        <p:spPr>
          <a:xfrm>
            <a:off x="640080" y="4480560"/>
            <a:ext cx="7863840" cy="256032"/>
          </a:xfrm>
          <a:prstGeom prst="rect">
            <a:avLst/>
          </a:prstGeom>
          <a:noFill/>
          <a:ln/>
        </p:spPr>
        <p:txBody>
          <a:bodyPr wrap="square" lIns="0" tIns="0" rIns="0" bIns="0" rtlCol="0" anchor="t"/>
          <a:lstStyle/>
          <a:p>
            <a:pPr indent="0" marL="0">
              <a:buNone/>
            </a:pPr>
            <a:r>
              <a:rPr lang="en-US" sz="1200" i="1" dirty="0">
                <a:solidFill>
                  <a:schemeClr val="tx2"/>
                </a:solidFill>
              </a:rPr>
              <a:t>Live app, claim CLM-26-0019. Each outcome comes with its reason and the policy rule behind it.</a:t>
            </a:r>
            <a:endParaRPr lang="en-US" sz="12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777240"/>
          </a:xfrm>
          <a:prstGeom prst="rect">
            <a:avLst/>
          </a:prstGeom>
          <a:noFill/>
          <a:ln/>
        </p:spPr>
        <p:txBody>
          <a:bodyPr wrap="square" lIns="0" tIns="0" rIns="0" bIns="0" rtlCol="0" anchor="t"/>
          <a:lstStyle/>
          <a:p>
            <a:pPr algn="l" indent="0" marL="0">
              <a:buNone/>
            </a:pPr>
            <a:r>
              <a:rPr lang="en-US" sz="2800" b="1" dirty="0">
                <a:solidFill>
                  <a:schemeClr val="tx1"/>
                </a:solidFill>
              </a:rPr>
              <a:t>Decisions follow a fixed precedence</a:t>
            </a:r>
            <a:endParaRPr lang="en-US" sz="2800" dirty="0"/>
          </a:p>
        </p:txBody>
      </p:sp>
      <p:sp>
        <p:nvSpPr>
          <p:cNvPr id="3" name="Outcome REJECT"/>
          <p:cNvSpPr/>
          <p:nvPr/>
        </p:nvSpPr>
        <p:spPr>
          <a:xfrm>
            <a:off x="457200" y="1234440"/>
            <a:ext cx="1234440" cy="530352"/>
          </a:xfrm>
          <a:prstGeom prst="roundRect">
            <a:avLst>
              <a:gd name="adj" fmla="val 13793"/>
            </a:avLst>
          </a:prstGeom>
          <a:solidFill>
            <a:schemeClr val="accent5"/>
          </a:solidFill>
          <a:ln/>
        </p:spPr>
      </p:sp>
      <p:sp>
        <p:nvSpPr>
          <p:cNvPr id="4" name="Outcome REJECT label"/>
          <p:cNvSpPr txBox="1"/>
          <p:nvPr/>
        </p:nvSpPr>
        <p:spPr>
          <a:xfrm>
            <a:off x="457200" y="1234440"/>
            <a:ext cx="1234440" cy="530352"/>
          </a:xfrm>
          <a:prstGeom prst="rect">
            <a:avLst/>
          </a:prstGeom>
          <a:noFill/>
          <a:ln/>
        </p:spPr>
        <p:txBody>
          <a:bodyPr wrap="square" lIns="0" tIns="0" rIns="0" bIns="0" rtlCol="0" anchor="ctr"/>
          <a:lstStyle/>
          <a:p>
            <a:pPr algn="ctr" indent="0" marL="0">
              <a:buNone/>
            </a:pPr>
            <a:r>
              <a:rPr lang="en-US" sz="1300" b="1" dirty="0">
                <a:solidFill>
                  <a:schemeClr val="bg1"/>
                </a:solidFill>
              </a:rPr>
              <a:t>1  REJECT</a:t>
            </a:r>
            <a:endParaRPr lang="en-US" sz="1300" dirty="0"/>
          </a:p>
        </p:txBody>
      </p:sp>
      <p:sp>
        <p:nvSpPr>
          <p:cNvPr id="5" name="Outcome REJECT text"/>
          <p:cNvSpPr txBox="1"/>
          <p:nvPr/>
        </p:nvSpPr>
        <p:spPr>
          <a:xfrm>
            <a:off x="1828800" y="1234440"/>
            <a:ext cx="3246120" cy="530352"/>
          </a:xfrm>
          <a:prstGeom prst="rect">
            <a:avLst/>
          </a:prstGeom>
          <a:noFill/>
          <a:ln/>
        </p:spPr>
        <p:txBody>
          <a:bodyPr wrap="square" lIns="0" tIns="0" rIns="0" bIns="0" rtlCol="0" anchor="ctr"/>
          <a:lstStyle/>
          <a:p>
            <a:pPr indent="0" marL="0">
              <a:buNone/>
            </a:pPr>
            <a:r>
              <a:rPr lang="en-US" sz="1300" dirty="0">
                <a:solidFill>
                  <a:schemeClr val="tx1"/>
                </a:solidFill>
              </a:rPr>
              <a:t>hard rule broken: waiting period, exclusion, lapsed policy, duplicate</a:t>
            </a:r>
            <a:endParaRPr lang="en-US" sz="1300" dirty="0"/>
          </a:p>
        </p:txBody>
      </p:sp>
      <p:sp>
        <p:nvSpPr>
          <p:cNvPr id="6" name="Outcome QUERY"/>
          <p:cNvSpPr/>
          <p:nvPr/>
        </p:nvSpPr>
        <p:spPr>
          <a:xfrm>
            <a:off x="457200" y="1874520"/>
            <a:ext cx="1234440" cy="530352"/>
          </a:xfrm>
          <a:prstGeom prst="roundRect">
            <a:avLst>
              <a:gd name="adj" fmla="val 13793"/>
            </a:avLst>
          </a:prstGeom>
          <a:solidFill>
            <a:schemeClr val="accent3"/>
          </a:solidFill>
          <a:ln/>
        </p:spPr>
      </p:sp>
      <p:sp>
        <p:nvSpPr>
          <p:cNvPr id="7" name="Outcome QUERY label"/>
          <p:cNvSpPr txBox="1"/>
          <p:nvPr/>
        </p:nvSpPr>
        <p:spPr>
          <a:xfrm>
            <a:off x="457200" y="1874520"/>
            <a:ext cx="1234440" cy="530352"/>
          </a:xfrm>
          <a:prstGeom prst="rect">
            <a:avLst/>
          </a:prstGeom>
          <a:noFill/>
          <a:ln/>
        </p:spPr>
        <p:txBody>
          <a:bodyPr wrap="square" lIns="0" tIns="0" rIns="0" bIns="0" rtlCol="0" anchor="ctr"/>
          <a:lstStyle/>
          <a:p>
            <a:pPr algn="ctr" indent="0" marL="0">
              <a:buNone/>
            </a:pPr>
            <a:r>
              <a:rPr lang="en-US" sz="1300" b="1" dirty="0">
                <a:solidFill>
                  <a:schemeClr val="bg1"/>
                </a:solidFill>
              </a:rPr>
              <a:t>2  QUERY</a:t>
            </a:r>
            <a:endParaRPr lang="en-US" sz="1300" dirty="0"/>
          </a:p>
        </p:txBody>
      </p:sp>
      <p:sp>
        <p:nvSpPr>
          <p:cNvPr id="8" name="Outcome QUERY text"/>
          <p:cNvSpPr txBox="1"/>
          <p:nvPr/>
        </p:nvSpPr>
        <p:spPr>
          <a:xfrm>
            <a:off x="1828800" y="1874520"/>
            <a:ext cx="3246120" cy="530352"/>
          </a:xfrm>
          <a:prstGeom prst="rect">
            <a:avLst/>
          </a:prstGeom>
          <a:noFill/>
          <a:ln/>
        </p:spPr>
        <p:txBody>
          <a:bodyPr wrap="square" lIns="0" tIns="0" rIns="0" bIns="0" rtlCol="0" anchor="ctr"/>
          <a:lstStyle/>
          <a:p>
            <a:pPr indent="0" marL="0">
              <a:buNone/>
            </a:pPr>
            <a:r>
              <a:rPr lang="en-US" sz="1300" dirty="0">
                <a:solidFill>
                  <a:schemeClr val="tx1"/>
                </a:solidFill>
              </a:rPr>
              <a:t>mandatory document missing or unreadable</a:t>
            </a:r>
            <a:endParaRPr lang="en-US" sz="1300" dirty="0"/>
          </a:p>
        </p:txBody>
      </p:sp>
      <p:sp>
        <p:nvSpPr>
          <p:cNvPr id="9" name="Outcome ESCALATE"/>
          <p:cNvSpPr/>
          <p:nvPr/>
        </p:nvSpPr>
        <p:spPr>
          <a:xfrm>
            <a:off x="457200" y="2514600"/>
            <a:ext cx="1234440" cy="530352"/>
          </a:xfrm>
          <a:prstGeom prst="roundRect">
            <a:avLst>
              <a:gd name="adj" fmla="val 13793"/>
            </a:avLst>
          </a:prstGeom>
          <a:solidFill>
            <a:schemeClr val="accent2"/>
          </a:solidFill>
          <a:ln/>
        </p:spPr>
      </p:sp>
      <p:sp>
        <p:nvSpPr>
          <p:cNvPr id="10" name="Outcome ESCALATE label"/>
          <p:cNvSpPr txBox="1"/>
          <p:nvPr/>
        </p:nvSpPr>
        <p:spPr>
          <a:xfrm>
            <a:off x="457200" y="2514600"/>
            <a:ext cx="1234440" cy="530352"/>
          </a:xfrm>
          <a:prstGeom prst="rect">
            <a:avLst/>
          </a:prstGeom>
          <a:noFill/>
          <a:ln/>
        </p:spPr>
        <p:txBody>
          <a:bodyPr wrap="square" lIns="0" tIns="0" rIns="0" bIns="0" rtlCol="0" anchor="ctr"/>
          <a:lstStyle/>
          <a:p>
            <a:pPr algn="ctr" indent="0" marL="0">
              <a:buNone/>
            </a:pPr>
            <a:r>
              <a:rPr lang="en-US" sz="1300" b="1" dirty="0">
                <a:solidFill>
                  <a:schemeClr val="bg1"/>
                </a:solidFill>
              </a:rPr>
              <a:t>3  ESCALATE</a:t>
            </a:r>
            <a:endParaRPr lang="en-US" sz="1300" dirty="0"/>
          </a:p>
        </p:txBody>
      </p:sp>
      <p:sp>
        <p:nvSpPr>
          <p:cNvPr id="11" name="Outcome ESCALATE text"/>
          <p:cNvSpPr txBox="1"/>
          <p:nvPr/>
        </p:nvSpPr>
        <p:spPr>
          <a:xfrm>
            <a:off x="1828800" y="2514600"/>
            <a:ext cx="3246120" cy="530352"/>
          </a:xfrm>
          <a:prstGeom prst="rect">
            <a:avLst/>
          </a:prstGeom>
          <a:noFill/>
          <a:ln/>
        </p:spPr>
        <p:txBody>
          <a:bodyPr wrap="square" lIns="0" tIns="0" rIns="0" bIns="0" rtlCol="0" anchor="ctr"/>
          <a:lstStyle/>
          <a:p>
            <a:pPr indent="0" marL="0">
              <a:buNone/>
            </a:pPr>
            <a:r>
              <a:rPr lang="en-US" sz="1300" dirty="0">
                <a:solidFill>
                  <a:schemeClr val="tx1"/>
                </a:solidFill>
              </a:rPr>
              <a:t>fraud score 60+, tampered bill, mismatch, high value, late filing</a:t>
            </a:r>
            <a:endParaRPr lang="en-US" sz="1300" dirty="0"/>
          </a:p>
        </p:txBody>
      </p:sp>
      <p:sp>
        <p:nvSpPr>
          <p:cNvPr id="12" name="Outcome PARTIAL"/>
          <p:cNvSpPr/>
          <p:nvPr/>
        </p:nvSpPr>
        <p:spPr>
          <a:xfrm>
            <a:off x="457200" y="3154680"/>
            <a:ext cx="1234440" cy="530352"/>
          </a:xfrm>
          <a:prstGeom prst="roundRect">
            <a:avLst>
              <a:gd name="adj" fmla="val 13793"/>
            </a:avLst>
          </a:prstGeom>
          <a:solidFill>
            <a:schemeClr val="accent6"/>
          </a:solidFill>
          <a:ln/>
        </p:spPr>
      </p:sp>
      <p:sp>
        <p:nvSpPr>
          <p:cNvPr id="13" name="Outcome PARTIAL label"/>
          <p:cNvSpPr txBox="1"/>
          <p:nvPr/>
        </p:nvSpPr>
        <p:spPr>
          <a:xfrm>
            <a:off x="457200" y="3154680"/>
            <a:ext cx="1234440" cy="530352"/>
          </a:xfrm>
          <a:prstGeom prst="rect">
            <a:avLst/>
          </a:prstGeom>
          <a:noFill/>
          <a:ln/>
        </p:spPr>
        <p:txBody>
          <a:bodyPr wrap="square" lIns="0" tIns="0" rIns="0" bIns="0" rtlCol="0" anchor="ctr"/>
          <a:lstStyle/>
          <a:p>
            <a:pPr algn="ctr" indent="0" marL="0">
              <a:buNone/>
            </a:pPr>
            <a:r>
              <a:rPr lang="en-US" sz="1300" b="1" dirty="0">
                <a:solidFill>
                  <a:schemeClr val="bg1"/>
                </a:solidFill>
              </a:rPr>
              <a:t>4  PARTIAL</a:t>
            </a:r>
            <a:endParaRPr lang="en-US" sz="1300" dirty="0"/>
          </a:p>
        </p:txBody>
      </p:sp>
      <p:sp>
        <p:nvSpPr>
          <p:cNvPr id="14" name="Outcome PARTIAL text"/>
          <p:cNvSpPr txBox="1"/>
          <p:nvPr/>
        </p:nvSpPr>
        <p:spPr>
          <a:xfrm>
            <a:off x="1828800" y="3154680"/>
            <a:ext cx="3246120" cy="530352"/>
          </a:xfrm>
          <a:prstGeom prst="rect">
            <a:avLst/>
          </a:prstGeom>
          <a:noFill/>
          <a:ln/>
        </p:spPr>
        <p:txBody>
          <a:bodyPr wrap="square" lIns="0" tIns="0" rIns="0" bIns="0" rtlCol="0" anchor="ctr"/>
          <a:lstStyle/>
          <a:p>
            <a:pPr indent="0" marL="0">
              <a:buNone/>
            </a:pPr>
            <a:r>
              <a:rPr lang="en-US" sz="1300" dirty="0">
                <a:solidFill>
                  <a:schemeClr val="tx1"/>
                </a:solidFill>
              </a:rPr>
              <a:t>deductions apply: room rent, sub-limit, co-pay, non-medical</a:t>
            </a:r>
            <a:endParaRPr lang="en-US" sz="1300" dirty="0"/>
          </a:p>
        </p:txBody>
      </p:sp>
      <p:sp>
        <p:nvSpPr>
          <p:cNvPr id="15" name="Outcome APPROVE"/>
          <p:cNvSpPr/>
          <p:nvPr/>
        </p:nvSpPr>
        <p:spPr>
          <a:xfrm>
            <a:off x="457200" y="3794760"/>
            <a:ext cx="1234440" cy="530352"/>
          </a:xfrm>
          <a:prstGeom prst="roundRect">
            <a:avLst>
              <a:gd name="adj" fmla="val 13793"/>
            </a:avLst>
          </a:prstGeom>
          <a:solidFill>
            <a:schemeClr val="accent4"/>
          </a:solidFill>
          <a:ln/>
        </p:spPr>
      </p:sp>
      <p:sp>
        <p:nvSpPr>
          <p:cNvPr id="16" name="Outcome APPROVE label"/>
          <p:cNvSpPr txBox="1"/>
          <p:nvPr/>
        </p:nvSpPr>
        <p:spPr>
          <a:xfrm>
            <a:off x="457200" y="3794760"/>
            <a:ext cx="1234440" cy="530352"/>
          </a:xfrm>
          <a:prstGeom prst="rect">
            <a:avLst/>
          </a:prstGeom>
          <a:noFill/>
          <a:ln/>
        </p:spPr>
        <p:txBody>
          <a:bodyPr wrap="square" lIns="0" tIns="0" rIns="0" bIns="0" rtlCol="0" anchor="ctr"/>
          <a:lstStyle/>
          <a:p>
            <a:pPr algn="ctr" indent="0" marL="0">
              <a:buNone/>
            </a:pPr>
            <a:r>
              <a:rPr lang="en-US" sz="1300" b="1" dirty="0">
                <a:solidFill>
                  <a:schemeClr val="bg1"/>
                </a:solidFill>
              </a:rPr>
              <a:t>5  APPROVE</a:t>
            </a:r>
            <a:endParaRPr lang="en-US" sz="1300" dirty="0"/>
          </a:p>
        </p:txBody>
      </p:sp>
      <p:sp>
        <p:nvSpPr>
          <p:cNvPr id="17" name="Outcome APPROVE text"/>
          <p:cNvSpPr txBox="1"/>
          <p:nvPr/>
        </p:nvSpPr>
        <p:spPr>
          <a:xfrm>
            <a:off x="1828800" y="3794760"/>
            <a:ext cx="3246120" cy="530352"/>
          </a:xfrm>
          <a:prstGeom prst="rect">
            <a:avLst/>
          </a:prstGeom>
          <a:noFill/>
          <a:ln/>
        </p:spPr>
        <p:txBody>
          <a:bodyPr wrap="square" lIns="0" tIns="0" rIns="0" bIns="0" rtlCol="0" anchor="ctr"/>
          <a:lstStyle/>
          <a:p>
            <a:pPr indent="0" marL="0">
              <a:buNone/>
            </a:pPr>
            <a:r>
              <a:rPr lang="en-US" sz="1300" dirty="0">
                <a:solidFill>
                  <a:schemeClr val="tx1"/>
                </a:solidFill>
              </a:rPr>
              <a:t>every check passed, no deduction</a:t>
            </a:r>
            <a:endParaRPr lang="en-US" sz="1300" dirty="0"/>
          </a:p>
        </p:txBody>
      </p:sp>
      <p:sp>
        <p:nvSpPr>
          <p:cNvPr id="18" name="Critic card"/>
          <p:cNvSpPr/>
          <p:nvPr/>
        </p:nvSpPr>
        <p:spPr>
          <a:xfrm>
            <a:off x="5349240" y="1234440"/>
            <a:ext cx="3337560" cy="3108960"/>
          </a:xfrm>
          <a:prstGeom prst="roundRect">
            <a:avLst>
              <a:gd name="adj" fmla="val 2353"/>
            </a:avLst>
          </a:prstGeom>
          <a:solidFill>
            <a:schemeClr val="bg2"/>
          </a:solidFill>
          <a:ln/>
        </p:spPr>
      </p:sp>
      <p:sp>
        <p:nvSpPr>
          <p:cNvPr id="19" name="Badge C"/>
          <p:cNvSpPr/>
          <p:nvPr/>
        </p:nvSpPr>
        <p:spPr>
          <a:xfrm>
            <a:off x="5532120" y="1371600"/>
            <a:ext cx="365760" cy="365760"/>
          </a:xfrm>
          <a:prstGeom prst="ellipse">
            <a:avLst/>
          </a:prstGeom>
          <a:solidFill>
            <a:schemeClr val="accent2"/>
          </a:solidFill>
          <a:ln/>
        </p:spPr>
      </p:sp>
      <p:sp>
        <p:nvSpPr>
          <p:cNvPr id="20" name="Badge C label"/>
          <p:cNvSpPr txBox="1"/>
          <p:nvPr/>
        </p:nvSpPr>
        <p:spPr>
          <a:xfrm>
            <a:off x="5532120" y="1371600"/>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C</a:t>
            </a:r>
            <a:endParaRPr lang="en-US" sz="1500" dirty="0"/>
          </a:p>
        </p:txBody>
      </p:sp>
      <p:sp>
        <p:nvSpPr>
          <p:cNvPr id="21" name="Critic heading"/>
          <p:cNvSpPr txBox="1"/>
          <p:nvPr/>
        </p:nvSpPr>
        <p:spPr>
          <a:xfrm>
            <a:off x="5989320" y="1371600"/>
            <a:ext cx="2651760" cy="36576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What the Critic re-checks</a:t>
            </a:r>
            <a:endParaRPr lang="en-US" sz="1700" dirty="0"/>
          </a:p>
        </p:txBody>
      </p:sp>
      <p:sp>
        <p:nvSpPr>
          <p:cNvPr id="22" name="Critic checks"/>
          <p:cNvSpPr txBox="1"/>
          <p:nvPr/>
        </p:nvSpPr>
        <p:spPr>
          <a:xfrm>
            <a:off x="5532120" y="1920240"/>
            <a:ext cx="3017520" cy="18288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Payout reconciles with deductions</a:t>
            </a:r>
            <a:endParaRPr lang="en-US" sz="1400" dirty="0"/>
          </a:p>
          <a:p>
            <a:pPr marL="342900" indent="-342900">
              <a:spcAft>
                <a:spcPts val="500"/>
              </a:spcAft>
              <a:buSzPct val="100000"/>
              <a:buChar char="•"/>
            </a:pPr>
            <a:r>
              <a:rPr lang="en-US" sz="1400" dirty="0">
                <a:solidFill>
                  <a:schemeClr val="tx1"/>
                </a:solidFill>
              </a:rPr>
              <a:t>Within claim and sum insured</a:t>
            </a:r>
            <a:endParaRPr lang="en-US" sz="1400" dirty="0"/>
          </a:p>
          <a:p>
            <a:pPr marL="342900" indent="-342900">
              <a:spcAft>
                <a:spcPts val="500"/>
              </a:spcAft>
              <a:buSzPct val="100000"/>
              <a:buChar char="•"/>
            </a:pPr>
            <a:r>
              <a:rPr lang="en-US" sz="1400" dirty="0">
                <a:solidFill>
                  <a:schemeClr val="tx1"/>
                </a:solidFill>
              </a:rPr>
              <a:t>Every finding cites a real clause</a:t>
            </a:r>
            <a:endParaRPr lang="en-US" sz="1400" dirty="0"/>
          </a:p>
          <a:p>
            <a:pPr marL="342900" indent="-342900">
              <a:spcAft>
                <a:spcPts val="500"/>
              </a:spcAft>
              <a:buSzPct val="100000"/>
              <a:buChar char="•"/>
            </a:pPr>
            <a:r>
              <a:rPr lang="en-US" sz="1400" dirty="0">
                <a:solidFill>
                  <a:schemeClr val="tx1"/>
                </a:solidFill>
              </a:rPr>
              <a:t>Extraction agrees with the form</a:t>
            </a:r>
            <a:endParaRPr lang="en-US" sz="1400" dirty="0"/>
          </a:p>
          <a:p>
            <a:pPr marL="342900" indent="-342900">
              <a:spcAft>
                <a:spcPts val="500"/>
              </a:spcAft>
              <a:buSzPct val="100000"/>
              <a:buChar char="•"/>
            </a:pPr>
            <a:r>
              <a:rPr lang="en-US" sz="1400" dirty="0">
                <a:solidFill>
                  <a:schemeClr val="tx1"/>
                </a:solidFill>
              </a:rPr>
              <a:t>Fraud screening matched the risk</a:t>
            </a:r>
            <a:endParaRPr lang="en-US" sz="1400" dirty="0"/>
          </a:p>
        </p:txBody>
      </p:sp>
      <p:sp>
        <p:nvSpPr>
          <p:cNvPr id="23" name="Critic outcome"/>
          <p:cNvSpPr txBox="1"/>
          <p:nvPr/>
        </p:nvSpPr>
        <p:spPr>
          <a:xfrm>
            <a:off x="5532120" y="3657600"/>
            <a:ext cx="3017520" cy="594360"/>
          </a:xfrm>
          <a:prstGeom prst="rect">
            <a:avLst/>
          </a:prstGeom>
          <a:noFill/>
          <a:ln/>
        </p:spPr>
        <p:txBody>
          <a:bodyPr wrap="square" lIns="0" tIns="0" rIns="0" bIns="0" rtlCol="0" anchor="t"/>
          <a:lstStyle/>
          <a:p>
            <a:pPr indent="0" marL="0">
              <a:buNone/>
            </a:pPr>
            <a:r>
              <a:rPr lang="en-US" sz="1200" i="1" dirty="0">
                <a:solidFill>
                  <a:schemeClr val="tx2"/>
                </a:solidFill>
              </a:rPr>
              <a:t>Any failure sends the claim back to the Planner. After two rounds it goes to a human.</a:t>
            </a:r>
            <a:endParaRPr lang="en-US" sz="12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777240"/>
          </a:xfrm>
          <a:prstGeom prst="rect">
            <a:avLst/>
          </a:prstGeom>
          <a:noFill/>
          <a:ln/>
        </p:spPr>
        <p:txBody>
          <a:bodyPr wrap="square" lIns="0" tIns="0" rIns="0" bIns="0" rtlCol="0" anchor="t"/>
          <a:lstStyle/>
          <a:p>
            <a:pPr algn="l" indent="0" marL="0">
              <a:buNone/>
            </a:pPr>
            <a:r>
              <a:rPr lang="en-US" sz="2800" b="1" dirty="0">
                <a:solidFill>
                  <a:schemeClr val="tx1"/>
                </a:solidFill>
              </a:rPr>
              <a:t>First, hardening the rules with noisy claims</a:t>
            </a:r>
            <a:endParaRPr lang="en-US" sz="2800" dirty="0"/>
          </a:p>
        </p:txBody>
      </p:sp>
      <p:graphicFrame>
        <p:nvGraphicFramePr>
          <p:cNvPr id="3" name="Chart 0" descr=""/>
          <p:cNvGraphicFramePr/>
          <p:nvPr/>
        </p:nvGraphicFramePr>
        <p:xfrm>
          <a:off x="365760" y="1097280"/>
          <a:ext cx="5394960" cy="3246120"/>
        </p:xfrm>
        <a:graphic xmlns:a="http://schemas.openxmlformats.org/drawingml/2006/main">
          <a:graphicData uri="http://schemas.openxmlformats.org/drawingml/2006/chart">
            <c:chart xmlns:c="http://schemas.openxmlformats.org/drawingml/2006/chart" r:id="rId1"/>
          </a:graphicData>
        </a:graphic>
      </p:graphicFrame>
      <p:sp>
        <p:nvSpPr>
          <p:cNvPr id="4" name="Chart note"/>
          <p:cNvSpPr txBox="1"/>
          <p:nvPr/>
        </p:nvSpPr>
        <p:spPr>
          <a:xfrm>
            <a:off x="457200" y="4434840"/>
            <a:ext cx="5303520" cy="228600"/>
          </a:xfrm>
          <a:prstGeom prst="rect">
            <a:avLst/>
          </a:prstGeom>
          <a:noFill/>
          <a:ln/>
        </p:spPr>
        <p:txBody>
          <a:bodyPr wrap="square" lIns="0" tIns="0" rIns="0" bIns="0" rtlCol="0" anchor="t"/>
          <a:lstStyle/>
          <a:p>
            <a:pPr indent="0" marL="0">
              <a:buNone/>
            </a:pPr>
            <a:r>
              <a:rPr lang="en-US" sz="1100" i="1" dirty="0">
                <a:solidFill>
                  <a:schemeClr val="tx2"/>
                </a:solidFill>
              </a:rPr>
              <a:t>UNSEEN rows were added after the fixes, so they have no first-run bar.</a:t>
            </a:r>
            <a:endParaRPr lang="en-US" sz="1100" dirty="0"/>
          </a:p>
        </p:txBody>
      </p:sp>
      <p:sp>
        <p:nvSpPr>
          <p:cNvPr id="5" name="Result card 1"/>
          <p:cNvSpPr/>
          <p:nvPr/>
        </p:nvSpPr>
        <p:spPr>
          <a:xfrm>
            <a:off x="5989320" y="1188720"/>
            <a:ext cx="2697480" cy="1024128"/>
          </a:xfrm>
          <a:prstGeom prst="roundRect">
            <a:avLst>
              <a:gd name="adj" fmla="val 7143"/>
            </a:avLst>
          </a:prstGeom>
          <a:solidFill>
            <a:schemeClr val="bg2"/>
          </a:solidFill>
          <a:ln/>
        </p:spPr>
      </p:sp>
      <p:sp>
        <p:nvSpPr>
          <p:cNvPr id="6" name="Result number 1"/>
          <p:cNvSpPr txBox="1"/>
          <p:nvPr/>
        </p:nvSpPr>
        <p:spPr>
          <a:xfrm>
            <a:off x="6126480" y="1261872"/>
            <a:ext cx="1188720" cy="877824"/>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89/89</a:t>
            </a:r>
            <a:endParaRPr lang="en-US" sz="2600" dirty="0"/>
          </a:p>
        </p:txBody>
      </p:sp>
      <p:sp>
        <p:nvSpPr>
          <p:cNvPr id="7" name="Result caption 1"/>
          <p:cNvSpPr txBox="1"/>
          <p:nvPr/>
        </p:nvSpPr>
        <p:spPr>
          <a:xfrm>
            <a:off x="7315200" y="1261872"/>
            <a:ext cx="1280160" cy="877824"/>
          </a:xfrm>
          <a:prstGeom prst="rect">
            <a:avLst/>
          </a:prstGeom>
          <a:noFill/>
          <a:ln/>
        </p:spPr>
        <p:txBody>
          <a:bodyPr wrap="square" lIns="0" tIns="0" rIns="0" bIns="0" rtlCol="0" anchor="ctr"/>
          <a:lstStyle/>
          <a:p>
            <a:pPr indent="0" marL="0">
              <a:buNone/>
            </a:pPr>
            <a:r>
              <a:rPr lang="en-US" sz="1100" dirty="0">
                <a:solidFill>
                  <a:schemeClr val="tx1"/>
                </a:solidFill>
              </a:rPr>
              <a:t>main labelled set</a:t>
            </a:r>
            <a:endParaRPr lang="en-US" sz="1100" dirty="0"/>
          </a:p>
        </p:txBody>
      </p:sp>
      <p:sp>
        <p:nvSpPr>
          <p:cNvPr id="8" name="Result card 2"/>
          <p:cNvSpPr/>
          <p:nvPr/>
        </p:nvSpPr>
        <p:spPr>
          <a:xfrm>
            <a:off x="5989320" y="2359152"/>
            <a:ext cx="2697480" cy="1024128"/>
          </a:xfrm>
          <a:prstGeom prst="roundRect">
            <a:avLst>
              <a:gd name="adj" fmla="val 7143"/>
            </a:avLst>
          </a:prstGeom>
          <a:solidFill>
            <a:schemeClr val="bg2"/>
          </a:solidFill>
          <a:ln/>
        </p:spPr>
      </p:sp>
      <p:sp>
        <p:nvSpPr>
          <p:cNvPr id="9" name="Result number 2"/>
          <p:cNvSpPr txBox="1"/>
          <p:nvPr/>
        </p:nvSpPr>
        <p:spPr>
          <a:xfrm>
            <a:off x="6126480" y="2432304"/>
            <a:ext cx="1188720" cy="877824"/>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23/23</a:t>
            </a:r>
            <a:endParaRPr lang="en-US" sz="2600" dirty="0"/>
          </a:p>
        </p:txBody>
      </p:sp>
      <p:sp>
        <p:nvSpPr>
          <p:cNvPr id="10" name="Result caption 2"/>
          <p:cNvSpPr txBox="1"/>
          <p:nvPr/>
        </p:nvSpPr>
        <p:spPr>
          <a:xfrm>
            <a:off x="7315200" y="2432304"/>
            <a:ext cx="1280160" cy="877824"/>
          </a:xfrm>
          <a:prstGeom prst="rect">
            <a:avLst/>
          </a:prstGeom>
          <a:noFill/>
          <a:ln/>
        </p:spPr>
        <p:txBody>
          <a:bodyPr wrap="square" lIns="0" tIns="0" rIns="0" bIns="0" rtlCol="0" anchor="ctr"/>
          <a:lstStyle/>
          <a:p>
            <a:pPr indent="0" marL="0">
              <a:buNone/>
            </a:pPr>
            <a:r>
              <a:rPr lang="en-US" sz="1100" dirty="0">
                <a:solidFill>
                  <a:schemeClr val="tx1"/>
                </a:solidFill>
              </a:rPr>
              <a:t>boundary cases, e.g. 29 vs 30 days</a:t>
            </a:r>
            <a:endParaRPr lang="en-US" sz="1100" dirty="0"/>
          </a:p>
        </p:txBody>
      </p:sp>
      <p:sp>
        <p:nvSpPr>
          <p:cNvPr id="11" name="Result card 3"/>
          <p:cNvSpPr/>
          <p:nvPr/>
        </p:nvSpPr>
        <p:spPr>
          <a:xfrm>
            <a:off x="5989320" y="3529584"/>
            <a:ext cx="2697480" cy="1024128"/>
          </a:xfrm>
          <a:prstGeom prst="roundRect">
            <a:avLst>
              <a:gd name="adj" fmla="val 7143"/>
            </a:avLst>
          </a:prstGeom>
          <a:solidFill>
            <a:schemeClr val="bg2"/>
          </a:solidFill>
          <a:ln/>
        </p:spPr>
      </p:sp>
      <p:sp>
        <p:nvSpPr>
          <p:cNvPr id="12" name="Result number 3"/>
          <p:cNvSpPr txBox="1"/>
          <p:nvPr/>
        </p:nvSpPr>
        <p:spPr>
          <a:xfrm>
            <a:off x="6126480" y="3602736"/>
            <a:ext cx="1188720" cy="877824"/>
          </a:xfrm>
          <a:prstGeom prst="rect">
            <a:avLst/>
          </a:prstGeom>
          <a:noFill/>
          <a:ln/>
        </p:spPr>
        <p:txBody>
          <a:bodyPr wrap="square" lIns="0" tIns="0" rIns="0" bIns="0" rtlCol="0" anchor="ctr"/>
          <a:lstStyle/>
          <a:p>
            <a:pPr indent="0" marL="0">
              <a:buNone/>
            </a:pPr>
            <a:r>
              <a:rPr lang="en-US" sz="2600" b="1" dirty="0">
                <a:solidFill>
                  <a:schemeClr val="accent2"/>
                </a:solidFill>
                <a:latin typeface="Cambria" pitchFamily="34" charset="0"/>
                <a:ea typeface="Cambria" pitchFamily="34" charset="-122"/>
                <a:cs typeface="Cambria" pitchFamily="34" charset="-120"/>
              </a:rPr>
              <a:t>94.8%</a:t>
            </a:r>
            <a:endParaRPr lang="en-US" sz="2600" dirty="0"/>
          </a:p>
        </p:txBody>
      </p:sp>
      <p:sp>
        <p:nvSpPr>
          <p:cNvPr id="13" name="Result caption 3"/>
          <p:cNvSpPr txBox="1"/>
          <p:nvPr/>
        </p:nvSpPr>
        <p:spPr>
          <a:xfrm>
            <a:off x="7315200" y="3602736"/>
            <a:ext cx="1280160" cy="877824"/>
          </a:xfrm>
          <a:prstGeom prst="rect">
            <a:avLst/>
          </a:prstGeom>
          <a:noFill/>
          <a:ln/>
        </p:spPr>
        <p:txBody>
          <a:bodyPr wrap="square" lIns="0" tIns="0" rIns="0" bIns="0" rtlCol="0" anchor="ctr"/>
          <a:lstStyle/>
          <a:p>
            <a:pPr indent="0" marL="0">
              <a:buNone/>
            </a:pPr>
            <a:r>
              <a:rPr lang="en-US" sz="1100" dirty="0">
                <a:solidFill>
                  <a:schemeClr val="tx1"/>
                </a:solidFill>
              </a:rPr>
              <a:t>on unseen abbreviations, 23 of 240 risky claims wrongly paid</a:t>
            </a:r>
            <a:endParaRPr lang="en-US" sz="11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777240"/>
          </a:xfrm>
          <a:prstGeom prst="rect">
            <a:avLst/>
          </a:prstGeom>
          <a:noFill/>
          <a:ln/>
        </p:spPr>
        <p:txBody>
          <a:bodyPr wrap="square" lIns="0" tIns="0" rIns="0" bIns="0" rtlCol="0" anchor="t"/>
          <a:lstStyle/>
          <a:p>
            <a:pPr algn="l" indent="0" marL="0">
              <a:buNone/>
            </a:pPr>
            <a:r>
              <a:rPr lang="en-US" sz="2800" b="1" dirty="0">
                <a:solidFill>
                  <a:schemeClr val="tx1"/>
                </a:solidFill>
              </a:rPr>
              <a:t>Then a real language model closes the gap</a:t>
            </a:r>
            <a:endParaRPr lang="en-US" sz="2800" dirty="0"/>
          </a:p>
        </p:txBody>
      </p:sp>
      <p:graphicFrame>
        <p:nvGraphicFramePr>
          <p:cNvPr id="3" name="Chart 0" descr=""/>
          <p:cNvGraphicFramePr/>
          <p:nvPr/>
        </p:nvGraphicFramePr>
        <p:xfrm>
          <a:off x="365760" y="1097280"/>
          <a:ext cx="5394960" cy="3154680"/>
        </p:xfrm>
        <a:graphic xmlns:a="http://schemas.openxmlformats.org/drawingml/2006/main">
          <a:graphicData uri="http://schemas.openxmlformats.org/drawingml/2006/chart">
            <c:chart xmlns:c="http://schemas.openxmlformats.org/drawingml/2006/chart" r:id="rId1"/>
          </a:graphicData>
        </a:graphic>
      </p:graphicFrame>
      <p:sp>
        <p:nvSpPr>
          <p:cNvPr id="4" name="LLM card 1"/>
          <p:cNvSpPr/>
          <p:nvPr/>
        </p:nvSpPr>
        <p:spPr>
          <a:xfrm>
            <a:off x="5989320" y="1188720"/>
            <a:ext cx="2697480" cy="950976"/>
          </a:xfrm>
          <a:prstGeom prst="roundRect">
            <a:avLst>
              <a:gd name="adj" fmla="val 7692"/>
            </a:avLst>
          </a:prstGeom>
          <a:solidFill>
            <a:schemeClr val="bg2"/>
          </a:solidFill>
          <a:ln/>
        </p:spPr>
      </p:sp>
      <p:sp>
        <p:nvSpPr>
          <p:cNvPr id="5" name="LLM card head 1"/>
          <p:cNvSpPr txBox="1"/>
          <p:nvPr/>
        </p:nvSpPr>
        <p:spPr>
          <a:xfrm>
            <a:off x="6126480" y="1252728"/>
            <a:ext cx="2468880" cy="228600"/>
          </a:xfrm>
          <a:prstGeom prst="rect">
            <a:avLst/>
          </a:prstGeom>
          <a:noFill/>
          <a:ln/>
        </p:spPr>
        <p:txBody>
          <a:bodyPr wrap="square" lIns="0" tIns="0" rIns="0" bIns="0" rtlCol="0" anchor="t"/>
          <a:lstStyle/>
          <a:p>
            <a:pPr indent="0" marL="0">
              <a:buNone/>
            </a:pPr>
            <a:r>
              <a:rPr lang="en-US" sz="1100" b="1" spc="100" kern="0" dirty="0">
                <a:solidFill>
                  <a:schemeClr val="tx2"/>
                </a:solidFill>
              </a:rPr>
              <a:t>Abbreviations</a:t>
            </a:r>
            <a:endParaRPr lang="en-US" sz="1100" dirty="0"/>
          </a:p>
        </p:txBody>
      </p:sp>
      <p:sp>
        <p:nvSpPr>
          <p:cNvPr id="6" name="LLM card value 1"/>
          <p:cNvSpPr txBox="1"/>
          <p:nvPr/>
        </p:nvSpPr>
        <p:spPr>
          <a:xfrm>
            <a:off x="6126480" y="1463040"/>
            <a:ext cx="1325880" cy="585216"/>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5 to 0</a:t>
            </a:r>
            <a:endParaRPr lang="en-US" sz="2400" dirty="0"/>
          </a:p>
        </p:txBody>
      </p:sp>
      <p:sp>
        <p:nvSpPr>
          <p:cNvPr id="7" name="LLM card text 1"/>
          <p:cNvSpPr txBox="1"/>
          <p:nvPr/>
        </p:nvSpPr>
        <p:spPr>
          <a:xfrm>
            <a:off x="7406640" y="1481328"/>
            <a:ext cx="1188720" cy="566928"/>
          </a:xfrm>
          <a:prstGeom prst="rect">
            <a:avLst/>
          </a:prstGeom>
          <a:noFill/>
          <a:ln/>
        </p:spPr>
        <p:txBody>
          <a:bodyPr wrap="square" lIns="0" tIns="0" rIns="0" bIns="0" rtlCol="0" anchor="ctr"/>
          <a:lstStyle/>
          <a:p>
            <a:pPr indent="0" marL="0">
              <a:buNone/>
            </a:pPr>
            <a:r>
              <a:rPr lang="en-US" sz="1100" dirty="0">
                <a:solidFill>
                  <a:schemeClr val="tx1"/>
                </a:solidFill>
              </a:rPr>
              <a:t>risky claims wrongly paid, of 48</a:t>
            </a:r>
            <a:endParaRPr lang="en-US" sz="1100" dirty="0"/>
          </a:p>
        </p:txBody>
      </p:sp>
      <p:sp>
        <p:nvSpPr>
          <p:cNvPr id="8" name="LLM card 2"/>
          <p:cNvSpPr/>
          <p:nvPr/>
        </p:nvSpPr>
        <p:spPr>
          <a:xfrm>
            <a:off x="5989320" y="2267712"/>
            <a:ext cx="2697480" cy="950976"/>
          </a:xfrm>
          <a:prstGeom prst="roundRect">
            <a:avLst>
              <a:gd name="adj" fmla="val 7692"/>
            </a:avLst>
          </a:prstGeom>
          <a:solidFill>
            <a:schemeClr val="bg2"/>
          </a:solidFill>
          <a:ln/>
        </p:spPr>
      </p:sp>
      <p:sp>
        <p:nvSpPr>
          <p:cNvPr id="9" name="LLM card head 2"/>
          <p:cNvSpPr txBox="1"/>
          <p:nvPr/>
        </p:nvSpPr>
        <p:spPr>
          <a:xfrm>
            <a:off x="6126480" y="2331720"/>
            <a:ext cx="2468880" cy="228600"/>
          </a:xfrm>
          <a:prstGeom prst="rect">
            <a:avLst/>
          </a:prstGeom>
          <a:noFill/>
          <a:ln/>
        </p:spPr>
        <p:txBody>
          <a:bodyPr wrap="square" lIns="0" tIns="0" rIns="0" bIns="0" rtlCol="0" anchor="t"/>
          <a:lstStyle/>
          <a:p>
            <a:pPr indent="0" marL="0">
              <a:buNone/>
            </a:pPr>
            <a:r>
              <a:rPr lang="en-US" sz="1100" b="1" spc="100" kern="0" dirty="0">
                <a:solidFill>
                  <a:schemeClr val="tx2"/>
                </a:solidFill>
              </a:rPr>
              <a:t>Telegraphic notes</a:t>
            </a:r>
            <a:endParaRPr lang="en-US" sz="1100" dirty="0"/>
          </a:p>
        </p:txBody>
      </p:sp>
      <p:sp>
        <p:nvSpPr>
          <p:cNvPr id="10" name="LLM card value 2"/>
          <p:cNvSpPr txBox="1"/>
          <p:nvPr/>
        </p:nvSpPr>
        <p:spPr>
          <a:xfrm>
            <a:off x="6126480" y="2542032"/>
            <a:ext cx="1325880" cy="585216"/>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8 to 0</a:t>
            </a:r>
            <a:endParaRPr lang="en-US" sz="2400" dirty="0"/>
          </a:p>
        </p:txBody>
      </p:sp>
      <p:sp>
        <p:nvSpPr>
          <p:cNvPr id="11" name="LLM card text 2"/>
          <p:cNvSpPr txBox="1"/>
          <p:nvPr/>
        </p:nvSpPr>
        <p:spPr>
          <a:xfrm>
            <a:off x="7406640" y="2560320"/>
            <a:ext cx="1188720" cy="566928"/>
          </a:xfrm>
          <a:prstGeom prst="rect">
            <a:avLst/>
          </a:prstGeom>
          <a:noFill/>
          <a:ln/>
        </p:spPr>
        <p:txBody>
          <a:bodyPr wrap="square" lIns="0" tIns="0" rIns="0" bIns="0" rtlCol="0" anchor="ctr"/>
          <a:lstStyle/>
          <a:p>
            <a:pPr indent="0" marL="0">
              <a:buNone/>
            </a:pPr>
            <a:r>
              <a:rPr lang="en-US" sz="1100" dirty="0">
                <a:solidFill>
                  <a:schemeClr val="tx1"/>
                </a:solidFill>
              </a:rPr>
              <a:t>risky claims wrongly paid, of 48</a:t>
            </a:r>
            <a:endParaRPr lang="en-US" sz="1100" dirty="0"/>
          </a:p>
        </p:txBody>
      </p:sp>
      <p:sp>
        <p:nvSpPr>
          <p:cNvPr id="12" name="LLM card 3"/>
          <p:cNvSpPr/>
          <p:nvPr/>
        </p:nvSpPr>
        <p:spPr>
          <a:xfrm>
            <a:off x="5989320" y="3346704"/>
            <a:ext cx="2697480" cy="950976"/>
          </a:xfrm>
          <a:prstGeom prst="roundRect">
            <a:avLst>
              <a:gd name="adj" fmla="val 7692"/>
            </a:avLst>
          </a:prstGeom>
          <a:solidFill>
            <a:schemeClr val="bg2"/>
          </a:solidFill>
          <a:ln/>
        </p:spPr>
      </p:sp>
      <p:sp>
        <p:nvSpPr>
          <p:cNvPr id="13" name="LLM card head 3"/>
          <p:cNvSpPr txBox="1"/>
          <p:nvPr/>
        </p:nvSpPr>
        <p:spPr>
          <a:xfrm>
            <a:off x="6126480" y="3410712"/>
            <a:ext cx="2468880" cy="228600"/>
          </a:xfrm>
          <a:prstGeom prst="rect">
            <a:avLst/>
          </a:prstGeom>
          <a:noFill/>
          <a:ln/>
        </p:spPr>
        <p:txBody>
          <a:bodyPr wrap="square" lIns="0" tIns="0" rIns="0" bIns="0" rtlCol="0" anchor="t"/>
          <a:lstStyle/>
          <a:p>
            <a:pPr indent="0" marL="0">
              <a:buNone/>
            </a:pPr>
            <a:r>
              <a:rPr lang="en-US" sz="1100" b="1" spc="100" kern="0" dirty="0">
                <a:solidFill>
                  <a:schemeClr val="tx2"/>
                </a:solidFill>
              </a:rPr>
              <a:t>Needless holds</a:t>
            </a:r>
            <a:endParaRPr lang="en-US" sz="1100" dirty="0"/>
          </a:p>
        </p:txBody>
      </p:sp>
      <p:sp>
        <p:nvSpPr>
          <p:cNvPr id="14" name="LLM card value 3"/>
          <p:cNvSpPr txBox="1"/>
          <p:nvPr/>
        </p:nvSpPr>
        <p:spPr>
          <a:xfrm>
            <a:off x="6126480" y="3621024"/>
            <a:ext cx="1325880" cy="585216"/>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0</a:t>
            </a:r>
            <a:endParaRPr lang="en-US" sz="2400" dirty="0"/>
          </a:p>
        </p:txBody>
      </p:sp>
      <p:sp>
        <p:nvSpPr>
          <p:cNvPr id="15" name="LLM card text 3"/>
          <p:cNvSpPr txBox="1"/>
          <p:nvPr/>
        </p:nvSpPr>
        <p:spPr>
          <a:xfrm>
            <a:off x="7406640" y="3639312"/>
            <a:ext cx="1188720" cy="566928"/>
          </a:xfrm>
          <a:prstGeom prst="rect">
            <a:avLst/>
          </a:prstGeom>
          <a:noFill/>
          <a:ln/>
        </p:spPr>
        <p:txBody>
          <a:bodyPr wrap="square" lIns="0" tIns="0" rIns="0" bIns="0" rtlCol="0" anchor="ctr"/>
          <a:lstStyle/>
          <a:p>
            <a:pPr indent="0" marL="0">
              <a:buNone/>
            </a:pPr>
            <a:r>
              <a:rPr lang="en-US" sz="1100" dirty="0">
                <a:solidFill>
                  <a:schemeClr val="tx1"/>
                </a:solidFill>
              </a:rPr>
              <a:t>of 164 payable claims held by mistake</a:t>
            </a:r>
            <a:endParaRPr lang="en-US" sz="1100" dirty="0"/>
          </a:p>
        </p:txBody>
      </p:sp>
      <p:sp>
        <p:nvSpPr>
          <p:cNvPr id="16" name="LLM note"/>
          <p:cNvSpPr txBox="1"/>
          <p:nvPr/>
        </p:nvSpPr>
        <p:spPr>
          <a:xfrm>
            <a:off x="457200" y="4389120"/>
            <a:ext cx="8138160" cy="320040"/>
          </a:xfrm>
          <a:prstGeom prst="rect">
            <a:avLst/>
          </a:prstGeom>
          <a:noFill/>
          <a:ln/>
        </p:spPr>
        <p:txBody>
          <a:bodyPr wrap="square" lIns="0" tIns="0" rIns="0" bIns="0" rtlCol="0" anchor="t"/>
          <a:lstStyle/>
          <a:p>
            <a:pPr indent="0" marL="0">
              <a:buNone/>
            </a:pPr>
            <a:r>
              <a:rPr lang="en-US" sz="1100" i="1" dirty="0">
                <a:solidFill>
                  <a:schemeClr val="tx2"/>
                </a:solidFill>
              </a:rPr>
              <a:t>Same 89 claims for both columns. The model's prompt was tuned on other claims; telegraphic notes were written after tuning.</a:t>
            </a:r>
            <a:endParaRPr lang="en-US" sz="11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777240"/>
          </a:xfrm>
          <a:prstGeom prst="rect">
            <a:avLst/>
          </a:prstGeom>
          <a:noFill/>
          <a:ln/>
        </p:spPr>
        <p:txBody>
          <a:bodyPr wrap="square" lIns="0" tIns="0" rIns="0" bIns="0" rtlCol="0" anchor="t"/>
          <a:lstStyle/>
          <a:p>
            <a:pPr algn="l" indent="0" marL="0">
              <a:buNone/>
            </a:pPr>
            <a:r>
              <a:rPr lang="en-US" sz="2800" b="1" dirty="0">
                <a:solidFill>
                  <a:schemeClr val="tx1"/>
                </a:solidFill>
              </a:rPr>
              <a:t>Limitations and what comes next</a:t>
            </a:r>
            <a:endParaRPr lang="en-US" sz="2800" dirty="0"/>
          </a:p>
        </p:txBody>
      </p:sp>
      <p:sp>
        <p:nvSpPr>
          <p:cNvPr id="3" name="Limits card"/>
          <p:cNvSpPr/>
          <p:nvPr/>
        </p:nvSpPr>
        <p:spPr>
          <a:xfrm>
            <a:off x="457200" y="1234440"/>
            <a:ext cx="3977640" cy="3246120"/>
          </a:xfrm>
          <a:prstGeom prst="roundRect">
            <a:avLst>
              <a:gd name="adj" fmla="val 2254"/>
            </a:avLst>
          </a:prstGeom>
          <a:solidFill>
            <a:schemeClr val="bg2"/>
          </a:solidFill>
          <a:ln/>
        </p:spPr>
      </p:sp>
      <p:sp>
        <p:nvSpPr>
          <p:cNvPr id="4" name="Limits heading"/>
          <p:cNvSpPr txBox="1"/>
          <p:nvPr/>
        </p:nvSpPr>
        <p:spPr>
          <a:xfrm>
            <a:off x="685800" y="1371600"/>
            <a:ext cx="3566160" cy="365760"/>
          </a:xfrm>
          <a:prstGeom prst="rect">
            <a:avLst/>
          </a:prstGeom>
          <a:noFill/>
          <a:ln/>
        </p:spPr>
        <p:txBody>
          <a:bodyPr wrap="square" lIns="0" tIns="0" rIns="0" bIns="0" rtlCol="0" anchor="t"/>
          <a:lstStyle/>
          <a:p>
            <a:pPr indent="0" marL="0">
              <a:buNone/>
            </a:pPr>
            <a:r>
              <a:rPr lang="en-US" sz="2000" b="1" dirty="0">
                <a:solidFill>
                  <a:schemeClr val="accent2"/>
                </a:solidFill>
                <a:latin typeface="Cambria" pitchFamily="34" charset="0"/>
                <a:ea typeface="Cambria" pitchFamily="34" charset="-122"/>
                <a:cs typeface="Cambria" pitchFamily="34" charset="-120"/>
              </a:rPr>
              <a:t>Limitations</a:t>
            </a:r>
            <a:endParaRPr lang="en-US" sz="2000" dirty="0"/>
          </a:p>
        </p:txBody>
      </p:sp>
      <p:sp>
        <p:nvSpPr>
          <p:cNvPr id="5" name="Limits list"/>
          <p:cNvSpPr txBox="1"/>
          <p:nvPr/>
        </p:nvSpPr>
        <p:spPr>
          <a:xfrm>
            <a:off x="685800" y="1828800"/>
            <a:ext cx="3566160" cy="256032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tx1"/>
                </a:solidFill>
              </a:rPr>
              <a:t>All data is synthetic and the summaries are templated</a:t>
            </a:r>
            <a:endParaRPr lang="en-US" sz="1400" dirty="0"/>
          </a:p>
          <a:p>
            <a:pPr marL="342900" indent="-342900">
              <a:spcAft>
                <a:spcPts val="700"/>
              </a:spcAft>
              <a:buSzPct val="100000"/>
              <a:buChar char="•"/>
            </a:pPr>
            <a:r>
              <a:rPr lang="en-US" sz="1400" dirty="0">
                <a:solidFill>
                  <a:schemeClr val="tx1"/>
                </a:solidFill>
              </a:rPr>
              <a:t>Clinical abbreviations can hide a pre-existing condition</a:t>
            </a:r>
            <a:endParaRPr lang="en-US" sz="1400" dirty="0"/>
          </a:p>
          <a:p>
            <a:pPr marL="342900" indent="-342900">
              <a:spcAft>
                <a:spcPts val="700"/>
              </a:spcAft>
              <a:buSzPct val="100000"/>
              <a:buChar char="•"/>
            </a:pPr>
            <a:r>
              <a:rPr lang="en-US" sz="1400" dirty="0">
                <a:solidFill>
                  <a:schemeClr val="tx1"/>
                </a:solidFill>
              </a:rPr>
              <a:t>Fraud weights and tariffs are hand-set, not learned</a:t>
            </a:r>
            <a:endParaRPr lang="en-US" sz="1400" dirty="0"/>
          </a:p>
          <a:p>
            <a:pPr marL="342900" indent="-342900">
              <a:spcAft>
                <a:spcPts val="700"/>
              </a:spcAft>
              <a:buSzPct val="100000"/>
              <a:buChar char="•"/>
            </a:pPr>
            <a:r>
              <a:rPr lang="en-US" sz="1400" dirty="0">
                <a:solidFill>
                  <a:schemeClr val="tx1"/>
                </a:solidFill>
              </a:rPr>
              <a:t>The 25-minute manual baseline is an assumption</a:t>
            </a:r>
            <a:endParaRPr lang="en-US" sz="1400" dirty="0"/>
          </a:p>
        </p:txBody>
      </p:sp>
      <p:sp>
        <p:nvSpPr>
          <p:cNvPr id="6" name="Future card"/>
          <p:cNvSpPr/>
          <p:nvPr/>
        </p:nvSpPr>
        <p:spPr>
          <a:xfrm>
            <a:off x="4709160" y="1234440"/>
            <a:ext cx="3977640" cy="3246120"/>
          </a:xfrm>
          <a:prstGeom prst="roundRect">
            <a:avLst>
              <a:gd name="adj" fmla="val 2254"/>
            </a:avLst>
          </a:prstGeom>
          <a:solidFill>
            <a:schemeClr val="bg2"/>
          </a:solidFill>
          <a:ln/>
        </p:spPr>
      </p:sp>
      <p:sp>
        <p:nvSpPr>
          <p:cNvPr id="7" name="Future heading"/>
          <p:cNvSpPr txBox="1"/>
          <p:nvPr/>
        </p:nvSpPr>
        <p:spPr>
          <a:xfrm>
            <a:off x="4937760" y="1371600"/>
            <a:ext cx="3566160" cy="36576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Future scope</a:t>
            </a:r>
            <a:endParaRPr lang="en-US" sz="2000" dirty="0"/>
          </a:p>
        </p:txBody>
      </p:sp>
      <p:sp>
        <p:nvSpPr>
          <p:cNvPr id="8" name="Future list"/>
          <p:cNvSpPr txBox="1"/>
          <p:nvPr/>
        </p:nvSpPr>
        <p:spPr>
          <a:xfrm>
            <a:off x="4937760" y="1828800"/>
            <a:ext cx="3566160" cy="256032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tx1"/>
                </a:solidFill>
              </a:rPr>
              <a:t>Language-model extractor for real, messy documents</a:t>
            </a:r>
            <a:endParaRPr lang="en-US" sz="1400" dirty="0"/>
          </a:p>
          <a:p>
            <a:pPr marL="342900" indent="-342900">
              <a:spcAft>
                <a:spcPts val="700"/>
              </a:spcAft>
              <a:buSzPct val="100000"/>
              <a:buChar char="•"/>
            </a:pPr>
            <a:r>
              <a:rPr lang="en-US" sz="1400" dirty="0">
                <a:solidFill>
                  <a:schemeClr val="tx1"/>
                </a:solidFill>
              </a:rPr>
              <a:t>OCR for scanned bills and summaries</a:t>
            </a:r>
            <a:endParaRPr lang="en-US" sz="1400" dirty="0"/>
          </a:p>
          <a:p>
            <a:pPr marL="342900" indent="-342900">
              <a:spcAft>
                <a:spcPts val="700"/>
              </a:spcAft>
              <a:buSzPct val="100000"/>
              <a:buChar char="•"/>
            </a:pPr>
            <a:r>
              <a:rPr lang="en-US" sz="1400" dirty="0">
                <a:solidFill>
                  <a:schemeClr val="tx1"/>
                </a:solidFill>
              </a:rPr>
              <a:t>Strict mode: hold any claim whose history cannot be verified</a:t>
            </a:r>
            <a:endParaRPr lang="en-US" sz="1400" dirty="0"/>
          </a:p>
          <a:p>
            <a:pPr marL="342900" indent="-342900">
              <a:spcAft>
                <a:spcPts val="700"/>
              </a:spcAft>
              <a:buSzPct val="100000"/>
              <a:buChar char="•"/>
            </a:pPr>
            <a:r>
              <a:rPr lang="en-US" sz="1400" dirty="0">
                <a:solidFill>
                  <a:schemeClr val="tx1"/>
                </a:solidFill>
              </a:rPr>
              <a:t>Learn fraud weights from real outcomes, with human review feedback</a:t>
            </a:r>
            <a:endParaRPr lang="en-US" sz="14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8046720" cy="822960"/>
          </a:xfrm>
          <a:prstGeom prst="rect">
            <a:avLst/>
          </a:prstGeom>
          <a:noFill/>
          <a:ln/>
        </p:spPr>
        <p:txBody>
          <a:bodyPr wrap="square" lIns="0" tIns="0" rIns="0" bIns="0" rtlCol="0" anchor="t"/>
          <a:lstStyle/>
          <a:p>
            <a:pPr algn="l" indent="0" marL="0">
              <a:buNone/>
            </a:pPr>
            <a:r>
              <a:rPr lang="en-US" sz="4000" b="1" dirty="0">
                <a:solidFill>
                  <a:schemeClr val="bg1"/>
                </a:solidFill>
              </a:rPr>
              <a:t>Thank you</a:t>
            </a:r>
            <a:endParaRPr lang="en-US" sz="4000" dirty="0"/>
          </a:p>
        </p:txBody>
      </p:sp>
      <p:sp>
        <p:nvSpPr>
          <p:cNvPr id="3" name="Text 0"/>
          <p:cNvSpPr/>
          <p:nvPr>
            <p:ph idx="101" type="body" hasCustomPrompt="1"/>
          </p:nvPr>
        </p:nvSpPr>
        <p:spPr>
          <a:xfrm>
            <a:off x="548640" y="1691640"/>
            <a:ext cx="7498080" cy="731520"/>
          </a:xfrm>
          <a:prstGeom prst="rect">
            <a:avLst/>
          </a:prstGeom>
          <a:noFill/>
          <a:ln/>
        </p:spPr>
        <p:txBody>
          <a:bodyPr wrap="square" lIns="0" tIns="0" rIns="0" bIns="0" rtlCol="0" anchor="t"/>
          <a:lstStyle/>
          <a:p>
            <a:pPr algn="l" indent="0" marL="0">
              <a:buNone/>
            </a:pPr>
            <a:r>
              <a:rPr lang="en-US" sz="1800" dirty="0">
                <a:solidFill>
                  <a:schemeClr val="bg2"/>
                </a:solidFill>
              </a:rPr>
              <a:t>Questions welcome</a:t>
            </a:r>
            <a:endParaRPr lang="en-US" sz="1800" dirty="0"/>
          </a:p>
        </p:txBody>
      </p:sp>
      <p:sp>
        <p:nvSpPr>
          <p:cNvPr id="4" name="Closing members card"/>
          <p:cNvSpPr/>
          <p:nvPr/>
        </p:nvSpPr>
        <p:spPr>
          <a:xfrm>
            <a:off x="548640" y="2651760"/>
            <a:ext cx="8046720" cy="1051560"/>
          </a:xfrm>
          <a:prstGeom prst="roundRect">
            <a:avLst>
              <a:gd name="adj" fmla="val 6957"/>
            </a:avLst>
          </a:prstGeom>
          <a:solidFill>
            <a:schemeClr val="tx2"/>
          </a:solidFill>
          <a:ln/>
        </p:spPr>
      </p:sp>
      <p:sp>
        <p:nvSpPr>
          <p:cNvPr id="5" name="Closing label"/>
          <p:cNvSpPr txBox="1"/>
          <p:nvPr/>
        </p:nvSpPr>
        <p:spPr>
          <a:xfrm>
            <a:off x="822960" y="2743200"/>
            <a:ext cx="2743200" cy="228600"/>
          </a:xfrm>
          <a:prstGeom prst="rect">
            <a:avLst/>
          </a:prstGeom>
          <a:noFill/>
          <a:ln/>
        </p:spPr>
        <p:txBody>
          <a:bodyPr wrap="square" lIns="0" tIns="0" rIns="0" bIns="0" rtlCol="0" anchor="t"/>
          <a:lstStyle/>
          <a:p>
            <a:pPr indent="0" marL="0">
              <a:buNone/>
            </a:pPr>
            <a:r>
              <a:rPr lang="en-US" sz="1100" b="1" spc="300" kern="0" dirty="0">
                <a:solidFill>
                  <a:schemeClr val="bg2"/>
                </a:solidFill>
              </a:rPr>
              <a:t>GROUP MEMBERS</a:t>
            </a:r>
            <a:endParaRPr lang="en-US" sz="1100" dirty="0"/>
          </a:p>
        </p:txBody>
      </p:sp>
      <p:sp>
        <p:nvSpPr>
          <p:cNvPr id="6" name="Closing name 1"/>
          <p:cNvSpPr txBox="1"/>
          <p:nvPr/>
        </p:nvSpPr>
        <p:spPr>
          <a:xfrm>
            <a:off x="822960" y="3035808"/>
            <a:ext cx="3017520" cy="36576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Harsh Salunkhe</a:t>
            </a:r>
            <a:endParaRPr lang="en-US" sz="2000" dirty="0"/>
          </a:p>
        </p:txBody>
      </p:sp>
      <p:sp>
        <p:nvSpPr>
          <p:cNvPr id="7" name="Closing roll 1"/>
          <p:cNvSpPr txBox="1"/>
          <p:nvPr/>
        </p:nvSpPr>
        <p:spPr>
          <a:xfrm>
            <a:off x="822960" y="3419856"/>
            <a:ext cx="3017520" cy="274320"/>
          </a:xfrm>
          <a:prstGeom prst="rect">
            <a:avLst/>
          </a:prstGeom>
          <a:noFill/>
          <a:ln/>
        </p:spPr>
        <p:txBody>
          <a:bodyPr wrap="square" lIns="0" tIns="0" rIns="0" bIns="0" rtlCol="0" anchor="t"/>
          <a:lstStyle/>
          <a:p>
            <a:pPr indent="0" marL="0">
              <a:buNone/>
            </a:pPr>
            <a:r>
              <a:rPr lang="en-US" sz="1400" dirty="0">
                <a:solidFill>
                  <a:schemeClr val="bg2"/>
                </a:solidFill>
              </a:rPr>
              <a:t>24070126066</a:t>
            </a:r>
            <a:endParaRPr lang="en-US" sz="1400" dirty="0"/>
          </a:p>
        </p:txBody>
      </p:sp>
      <p:sp>
        <p:nvSpPr>
          <p:cNvPr id="8" name="Closing name 2"/>
          <p:cNvSpPr txBox="1"/>
          <p:nvPr/>
        </p:nvSpPr>
        <p:spPr>
          <a:xfrm>
            <a:off x="4023360" y="3035808"/>
            <a:ext cx="3017520" cy="36576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Dharna Sharma</a:t>
            </a:r>
            <a:endParaRPr lang="en-US" sz="2000" dirty="0"/>
          </a:p>
        </p:txBody>
      </p:sp>
      <p:sp>
        <p:nvSpPr>
          <p:cNvPr id="9" name="Closing roll 2"/>
          <p:cNvSpPr txBox="1"/>
          <p:nvPr/>
        </p:nvSpPr>
        <p:spPr>
          <a:xfrm>
            <a:off x="4023360" y="3419856"/>
            <a:ext cx="3017520" cy="274320"/>
          </a:xfrm>
          <a:prstGeom prst="rect">
            <a:avLst/>
          </a:prstGeom>
          <a:noFill/>
          <a:ln/>
        </p:spPr>
        <p:txBody>
          <a:bodyPr wrap="square" lIns="0" tIns="0" rIns="0" bIns="0" rtlCol="0" anchor="t"/>
          <a:lstStyle/>
          <a:p>
            <a:pPr indent="0" marL="0">
              <a:buNone/>
            </a:pPr>
            <a:r>
              <a:rPr lang="en-US" sz="1400" dirty="0">
                <a:solidFill>
                  <a:schemeClr val="bg2"/>
                </a:solidFill>
              </a:rPr>
              <a:t>24070126053</a:t>
            </a:r>
            <a:endParaRPr lang="en-US" sz="1400" dirty="0"/>
          </a:p>
        </p:txBody>
      </p:sp>
      <p:sp>
        <p:nvSpPr>
          <p:cNvPr id="10" name="Repo link"/>
          <p:cNvSpPr txBox="1"/>
          <p:nvPr/>
        </p:nvSpPr>
        <p:spPr>
          <a:xfrm>
            <a:off x="548640" y="3977640"/>
            <a:ext cx="8046720" cy="274320"/>
          </a:xfrm>
          <a:prstGeom prst="rect">
            <a:avLst/>
          </a:prstGeom>
          <a:noFill/>
          <a:ln/>
        </p:spPr>
        <p:txBody>
          <a:bodyPr wrap="square" lIns="0" tIns="0" rIns="0" bIns="0" rtlCol="0" anchor="t"/>
          <a:lstStyle/>
          <a:p>
            <a:pPr indent="0" marL="0">
              <a:buNone/>
            </a:pPr>
            <a:r>
              <a:rPr lang="en-US" sz="1400" dirty="0">
                <a:solidFill>
                  <a:schemeClr val="bg2"/>
                </a:solidFill>
              </a:rPr>
              <a:t>Code: github.com/HarshSalunkhe2005/claims-adjudication-agent  (full code also submitted as a zip)</a:t>
            </a:r>
            <a:endParaRPr lang="en-US" sz="1400" dirty="0"/>
          </a:p>
        </p:txBody>
      </p:sp>
      <p:sp>
        <p:nvSpPr>
          <p:cNvPr id="11" name="Local note"/>
          <p:cNvSpPr txBox="1"/>
          <p:nvPr/>
        </p:nvSpPr>
        <p:spPr>
          <a:xfrm>
            <a:off x="548640" y="4343400"/>
            <a:ext cx="8046720" cy="274320"/>
          </a:xfrm>
          <a:prstGeom prst="rect">
            <a:avLst/>
          </a:prstGeom>
          <a:noFill/>
          <a:ln/>
        </p:spPr>
        <p:txBody>
          <a:bodyPr wrap="square" lIns="0" tIns="0" rIns="0" bIns="0" rtlCol="0" anchor="t"/>
          <a:lstStyle/>
          <a:p>
            <a:pPr indent="0" marL="0">
              <a:buNone/>
            </a:pPr>
            <a:r>
              <a:rPr lang="en-US" sz="1400" dirty="0">
                <a:solidFill>
                  <a:schemeClr val="bg2"/>
                </a:solidFill>
              </a:rPr>
              <a:t>Runs on a laptop: local language model through Ollama, no cloud services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777240"/>
          </a:xfrm>
          <a:prstGeom prst="rect">
            <a:avLst/>
          </a:prstGeom>
          <a:noFill/>
          <a:ln/>
        </p:spPr>
        <p:txBody>
          <a:bodyPr wrap="square" lIns="0" tIns="0" rIns="0" bIns="0" rtlCol="0" anchor="t"/>
          <a:lstStyle/>
          <a:p>
            <a:pPr algn="l" indent="0" marL="0">
              <a:buNone/>
            </a:pPr>
            <a:r>
              <a:rPr lang="en-US" sz="2800" b="1" dirty="0">
                <a:solidFill>
                  <a:schemeClr val="tx1"/>
                </a:solidFill>
              </a:rPr>
              <a:t>Appendix: the four demo claims</a:t>
            </a:r>
            <a:endParaRPr lang="en-US" sz="2800" dirty="0"/>
          </a:p>
        </p:txBody>
      </p:sp>
      <p:sp>
        <p:nvSpPr>
          <p:cNvPr id="3" name="Demo card 1"/>
          <p:cNvSpPr/>
          <p:nvPr/>
        </p:nvSpPr>
        <p:spPr>
          <a:xfrm>
            <a:off x="457200" y="1234440"/>
            <a:ext cx="4023360" cy="1463040"/>
          </a:xfrm>
          <a:prstGeom prst="roundRect">
            <a:avLst>
              <a:gd name="adj" fmla="val 5000"/>
            </a:avLst>
          </a:prstGeom>
          <a:solidFill>
            <a:schemeClr val="bg2"/>
          </a:solidFill>
          <a:ln/>
        </p:spPr>
      </p:sp>
      <p:sp>
        <p:nvSpPr>
          <p:cNvPr id="4" name="Demo id 1"/>
          <p:cNvSpPr txBox="1"/>
          <p:nvPr/>
        </p:nvSpPr>
        <p:spPr>
          <a:xfrm>
            <a:off x="640080" y="1371600"/>
            <a:ext cx="2377440" cy="274320"/>
          </a:xfrm>
          <a:prstGeom prst="rect">
            <a:avLst/>
          </a:prstGeom>
          <a:noFill/>
          <a:ln/>
        </p:spPr>
        <p:txBody>
          <a:bodyPr wrap="square" lIns="0" tIns="0" rIns="0" bIns="0" rtlCol="0" anchor="t"/>
          <a:lstStyle/>
          <a:p>
            <a:pPr indent="0" marL="0">
              <a:buNone/>
            </a:pPr>
            <a:r>
              <a:rPr lang="en-US" sz="1200" b="1" dirty="0">
                <a:solidFill>
                  <a:schemeClr val="tx2"/>
                </a:solidFill>
              </a:rPr>
              <a:t>CLM-26-0001</a:t>
            </a:r>
            <a:endParaRPr lang="en-US" sz="1200" dirty="0"/>
          </a:p>
        </p:txBody>
      </p:sp>
      <p:sp>
        <p:nvSpPr>
          <p:cNvPr id="5" name="Demo outcome 1"/>
          <p:cNvSpPr/>
          <p:nvPr/>
        </p:nvSpPr>
        <p:spPr>
          <a:xfrm>
            <a:off x="3246120" y="1353312"/>
            <a:ext cx="1051560" cy="292608"/>
          </a:xfrm>
          <a:prstGeom prst="roundRect">
            <a:avLst>
              <a:gd name="adj" fmla="val 50000"/>
            </a:avLst>
          </a:prstGeom>
          <a:solidFill>
            <a:schemeClr val="accent6"/>
          </a:solidFill>
          <a:ln/>
        </p:spPr>
      </p:sp>
      <p:sp>
        <p:nvSpPr>
          <p:cNvPr id="6" name="Demo outcome label 1"/>
          <p:cNvSpPr txBox="1"/>
          <p:nvPr/>
        </p:nvSpPr>
        <p:spPr>
          <a:xfrm>
            <a:off x="3246120" y="1353312"/>
            <a:ext cx="1051560" cy="292608"/>
          </a:xfrm>
          <a:prstGeom prst="rect">
            <a:avLst/>
          </a:prstGeom>
          <a:noFill/>
          <a:ln/>
        </p:spPr>
        <p:txBody>
          <a:bodyPr wrap="square" lIns="0" tIns="0" rIns="0" bIns="0" rtlCol="0" anchor="ctr"/>
          <a:lstStyle/>
          <a:p>
            <a:pPr algn="ctr" indent="0" marL="0">
              <a:buNone/>
            </a:pPr>
            <a:r>
              <a:rPr lang="en-US" sz="1100" b="1" dirty="0">
                <a:solidFill>
                  <a:schemeClr val="bg1"/>
                </a:solidFill>
              </a:rPr>
              <a:t>PARTIAL</a:t>
            </a:r>
            <a:endParaRPr lang="en-US" sz="1100" dirty="0"/>
          </a:p>
        </p:txBody>
      </p:sp>
      <p:sp>
        <p:nvSpPr>
          <p:cNvPr id="7" name="Demo headline 1"/>
          <p:cNvSpPr txBox="1"/>
          <p:nvPr/>
        </p:nvSpPr>
        <p:spPr>
          <a:xfrm>
            <a:off x="640080" y="1737360"/>
            <a:ext cx="3657600" cy="502920"/>
          </a:xfrm>
          <a:prstGeom prst="rect">
            <a:avLst/>
          </a:prstGeom>
          <a:noFill/>
          <a:ln/>
        </p:spPr>
        <p:txBody>
          <a:bodyPr wrap="square" lIns="0" tIns="0" rIns="0" bIns="0" rtlCol="0" anchor="t"/>
          <a:lstStyle/>
          <a:p>
            <a:pPr indent="0" marL="0">
              <a:buNone/>
            </a:pPr>
            <a:r>
              <a:rPr lang="en-US" sz="1600" b="1" dirty="0">
                <a:solidFill>
                  <a:schemeClr val="tx1"/>
                </a:solidFill>
              </a:rPr>
              <a:t>Room rent above the plan cap</a:t>
            </a:r>
            <a:endParaRPr lang="en-US" sz="1600" dirty="0"/>
          </a:p>
        </p:txBody>
      </p:sp>
      <p:sp>
        <p:nvSpPr>
          <p:cNvPr id="8" name="Demo detail 1"/>
          <p:cNvSpPr txBox="1"/>
          <p:nvPr/>
        </p:nvSpPr>
        <p:spPr>
          <a:xfrm>
            <a:off x="640080" y="2240280"/>
            <a:ext cx="3657600" cy="365760"/>
          </a:xfrm>
          <a:prstGeom prst="rect">
            <a:avLst/>
          </a:prstGeom>
          <a:noFill/>
          <a:ln/>
        </p:spPr>
        <p:txBody>
          <a:bodyPr wrap="square" lIns="0" tIns="0" rIns="0" bIns="0" rtlCol="0" anchor="t"/>
          <a:lstStyle/>
          <a:p>
            <a:pPr indent="0" marL="0">
              <a:buNone/>
            </a:pPr>
            <a:r>
              <a:rPr lang="en-US" sz="1300" dirty="0">
                <a:solidFill>
                  <a:schemeClr val="tx2"/>
                </a:solidFill>
              </a:rPr>
              <a:t>Proportionate deduction, clause C6</a:t>
            </a:r>
            <a:endParaRPr lang="en-US" sz="1300" dirty="0"/>
          </a:p>
        </p:txBody>
      </p:sp>
      <p:sp>
        <p:nvSpPr>
          <p:cNvPr id="9" name="Demo card 2"/>
          <p:cNvSpPr/>
          <p:nvPr/>
        </p:nvSpPr>
        <p:spPr>
          <a:xfrm>
            <a:off x="4663440" y="1234440"/>
            <a:ext cx="4023360" cy="1463040"/>
          </a:xfrm>
          <a:prstGeom prst="roundRect">
            <a:avLst>
              <a:gd name="adj" fmla="val 5000"/>
            </a:avLst>
          </a:prstGeom>
          <a:solidFill>
            <a:schemeClr val="bg2"/>
          </a:solidFill>
          <a:ln/>
        </p:spPr>
      </p:sp>
      <p:sp>
        <p:nvSpPr>
          <p:cNvPr id="10" name="Demo id 2"/>
          <p:cNvSpPr txBox="1"/>
          <p:nvPr/>
        </p:nvSpPr>
        <p:spPr>
          <a:xfrm>
            <a:off x="4846320" y="1371600"/>
            <a:ext cx="2377440" cy="274320"/>
          </a:xfrm>
          <a:prstGeom prst="rect">
            <a:avLst/>
          </a:prstGeom>
          <a:noFill/>
          <a:ln/>
        </p:spPr>
        <p:txBody>
          <a:bodyPr wrap="square" lIns="0" tIns="0" rIns="0" bIns="0" rtlCol="0" anchor="t"/>
          <a:lstStyle/>
          <a:p>
            <a:pPr indent="0" marL="0">
              <a:buNone/>
            </a:pPr>
            <a:r>
              <a:rPr lang="en-US" sz="1200" b="1" dirty="0">
                <a:solidFill>
                  <a:schemeClr val="tx2"/>
                </a:solidFill>
              </a:rPr>
              <a:t>CLM-26-0007</a:t>
            </a:r>
            <a:endParaRPr lang="en-US" sz="1200" dirty="0"/>
          </a:p>
        </p:txBody>
      </p:sp>
      <p:sp>
        <p:nvSpPr>
          <p:cNvPr id="11" name="Demo outcome 2"/>
          <p:cNvSpPr/>
          <p:nvPr/>
        </p:nvSpPr>
        <p:spPr>
          <a:xfrm>
            <a:off x="7452360" y="1353312"/>
            <a:ext cx="1051560" cy="292608"/>
          </a:xfrm>
          <a:prstGeom prst="roundRect">
            <a:avLst>
              <a:gd name="adj" fmla="val 50000"/>
            </a:avLst>
          </a:prstGeom>
          <a:solidFill>
            <a:schemeClr val="accent5"/>
          </a:solidFill>
          <a:ln/>
        </p:spPr>
      </p:sp>
      <p:sp>
        <p:nvSpPr>
          <p:cNvPr id="12" name="Demo outcome label 2"/>
          <p:cNvSpPr txBox="1"/>
          <p:nvPr/>
        </p:nvSpPr>
        <p:spPr>
          <a:xfrm>
            <a:off x="7452360" y="1353312"/>
            <a:ext cx="1051560" cy="292608"/>
          </a:xfrm>
          <a:prstGeom prst="rect">
            <a:avLst/>
          </a:prstGeom>
          <a:noFill/>
          <a:ln/>
        </p:spPr>
        <p:txBody>
          <a:bodyPr wrap="square" lIns="0" tIns="0" rIns="0" bIns="0" rtlCol="0" anchor="ctr"/>
          <a:lstStyle/>
          <a:p>
            <a:pPr algn="ctr" indent="0" marL="0">
              <a:buNone/>
            </a:pPr>
            <a:r>
              <a:rPr lang="en-US" sz="1100" b="1" dirty="0">
                <a:solidFill>
                  <a:schemeClr val="bg1"/>
                </a:solidFill>
              </a:rPr>
              <a:t>REJECT</a:t>
            </a:r>
            <a:endParaRPr lang="en-US" sz="1100" dirty="0"/>
          </a:p>
        </p:txBody>
      </p:sp>
      <p:sp>
        <p:nvSpPr>
          <p:cNvPr id="13" name="Demo headline 2"/>
          <p:cNvSpPr txBox="1"/>
          <p:nvPr/>
        </p:nvSpPr>
        <p:spPr>
          <a:xfrm>
            <a:off x="4846320" y="1737360"/>
            <a:ext cx="3657600" cy="502920"/>
          </a:xfrm>
          <a:prstGeom prst="rect">
            <a:avLst/>
          </a:prstGeom>
          <a:noFill/>
          <a:ln/>
        </p:spPr>
        <p:txBody>
          <a:bodyPr wrap="square" lIns="0" tIns="0" rIns="0" bIns="0" rtlCol="0" anchor="t"/>
          <a:lstStyle/>
          <a:p>
            <a:pPr indent="0" marL="0">
              <a:buNone/>
            </a:pPr>
            <a:r>
              <a:rPr lang="en-US" sz="1600" b="1" dirty="0">
                <a:solidFill>
                  <a:schemeClr val="tx1"/>
                </a:solidFill>
              </a:rPr>
              <a:t>Pre-existing condition inside 24 months</a:t>
            </a:r>
            <a:endParaRPr lang="en-US" sz="1600" dirty="0"/>
          </a:p>
        </p:txBody>
      </p:sp>
      <p:sp>
        <p:nvSpPr>
          <p:cNvPr id="14" name="Demo detail 2"/>
          <p:cNvSpPr txBox="1"/>
          <p:nvPr/>
        </p:nvSpPr>
        <p:spPr>
          <a:xfrm>
            <a:off x="4846320" y="2240280"/>
            <a:ext cx="3657600" cy="365760"/>
          </a:xfrm>
          <a:prstGeom prst="rect">
            <a:avLst/>
          </a:prstGeom>
          <a:noFill/>
          <a:ln/>
        </p:spPr>
        <p:txBody>
          <a:bodyPr wrap="square" lIns="0" tIns="0" rIns="0" bIns="0" rtlCol="0" anchor="t"/>
          <a:lstStyle/>
          <a:p>
            <a:pPr indent="0" marL="0">
              <a:buNone/>
            </a:pPr>
            <a:r>
              <a:rPr lang="en-US" sz="1300" dirty="0">
                <a:solidFill>
                  <a:schemeClr val="tx2"/>
                </a:solidFill>
              </a:rPr>
              <a:t>Early exit, remaining checks skipped, clause C3</a:t>
            </a:r>
            <a:endParaRPr lang="en-US" sz="1300" dirty="0"/>
          </a:p>
        </p:txBody>
      </p:sp>
      <p:sp>
        <p:nvSpPr>
          <p:cNvPr id="15" name="Demo card 3"/>
          <p:cNvSpPr/>
          <p:nvPr/>
        </p:nvSpPr>
        <p:spPr>
          <a:xfrm>
            <a:off x="457200" y="2880360"/>
            <a:ext cx="4023360" cy="1463040"/>
          </a:xfrm>
          <a:prstGeom prst="roundRect">
            <a:avLst>
              <a:gd name="adj" fmla="val 5000"/>
            </a:avLst>
          </a:prstGeom>
          <a:solidFill>
            <a:schemeClr val="bg2"/>
          </a:solidFill>
          <a:ln/>
        </p:spPr>
      </p:sp>
      <p:sp>
        <p:nvSpPr>
          <p:cNvPr id="16" name="Demo id 3"/>
          <p:cNvSpPr txBox="1"/>
          <p:nvPr/>
        </p:nvSpPr>
        <p:spPr>
          <a:xfrm>
            <a:off x="640080" y="3017520"/>
            <a:ext cx="2377440" cy="274320"/>
          </a:xfrm>
          <a:prstGeom prst="rect">
            <a:avLst/>
          </a:prstGeom>
          <a:noFill/>
          <a:ln/>
        </p:spPr>
        <p:txBody>
          <a:bodyPr wrap="square" lIns="0" tIns="0" rIns="0" bIns="0" rtlCol="0" anchor="t"/>
          <a:lstStyle/>
          <a:p>
            <a:pPr indent="0" marL="0">
              <a:buNone/>
            </a:pPr>
            <a:r>
              <a:rPr lang="en-US" sz="1200" b="1" dirty="0">
                <a:solidFill>
                  <a:schemeClr val="tx2"/>
                </a:solidFill>
              </a:rPr>
              <a:t>CLM-26-0019</a:t>
            </a:r>
            <a:endParaRPr lang="en-US" sz="1200" dirty="0"/>
          </a:p>
        </p:txBody>
      </p:sp>
      <p:sp>
        <p:nvSpPr>
          <p:cNvPr id="17" name="Demo outcome 3"/>
          <p:cNvSpPr/>
          <p:nvPr/>
        </p:nvSpPr>
        <p:spPr>
          <a:xfrm>
            <a:off x="3246120" y="2999232"/>
            <a:ext cx="1051560" cy="292608"/>
          </a:xfrm>
          <a:prstGeom prst="roundRect">
            <a:avLst>
              <a:gd name="adj" fmla="val 50000"/>
            </a:avLst>
          </a:prstGeom>
          <a:solidFill>
            <a:schemeClr val="accent2"/>
          </a:solidFill>
          <a:ln/>
        </p:spPr>
      </p:sp>
      <p:sp>
        <p:nvSpPr>
          <p:cNvPr id="18" name="Demo outcome label 3"/>
          <p:cNvSpPr txBox="1"/>
          <p:nvPr/>
        </p:nvSpPr>
        <p:spPr>
          <a:xfrm>
            <a:off x="3246120" y="2999232"/>
            <a:ext cx="1051560" cy="292608"/>
          </a:xfrm>
          <a:prstGeom prst="rect">
            <a:avLst/>
          </a:prstGeom>
          <a:noFill/>
          <a:ln/>
        </p:spPr>
        <p:txBody>
          <a:bodyPr wrap="square" lIns="0" tIns="0" rIns="0" bIns="0" rtlCol="0" anchor="ctr"/>
          <a:lstStyle/>
          <a:p>
            <a:pPr algn="ctr" indent="0" marL="0">
              <a:buNone/>
            </a:pPr>
            <a:r>
              <a:rPr lang="en-US" sz="1100" b="1" dirty="0">
                <a:solidFill>
                  <a:schemeClr val="bg1"/>
                </a:solidFill>
              </a:rPr>
              <a:t>ESCALATE</a:t>
            </a:r>
            <a:endParaRPr lang="en-US" sz="1100" dirty="0"/>
          </a:p>
        </p:txBody>
      </p:sp>
      <p:sp>
        <p:nvSpPr>
          <p:cNvPr id="19" name="Demo headline 3"/>
          <p:cNvSpPr txBox="1"/>
          <p:nvPr/>
        </p:nvSpPr>
        <p:spPr>
          <a:xfrm>
            <a:off x="640080" y="3383280"/>
            <a:ext cx="3657600" cy="502920"/>
          </a:xfrm>
          <a:prstGeom prst="rect">
            <a:avLst/>
          </a:prstGeom>
          <a:noFill/>
          <a:ln/>
        </p:spPr>
        <p:txBody>
          <a:bodyPr wrap="square" lIns="0" tIns="0" rIns="0" bIns="0" rtlCol="0" anchor="t"/>
          <a:lstStyle/>
          <a:p>
            <a:pPr indent="0" marL="0">
              <a:buNone/>
            </a:pPr>
            <a:r>
              <a:rPr lang="en-US" sz="1600" b="1" dirty="0">
                <a:solidFill>
                  <a:schemeClr val="tx1"/>
                </a:solidFill>
              </a:rPr>
              <a:t>Quick plan misses an inflated bill</a:t>
            </a:r>
            <a:endParaRPr lang="en-US" sz="1600" dirty="0"/>
          </a:p>
        </p:txBody>
      </p:sp>
      <p:sp>
        <p:nvSpPr>
          <p:cNvPr id="20" name="Demo detail 3"/>
          <p:cNvSpPr txBox="1"/>
          <p:nvPr/>
        </p:nvSpPr>
        <p:spPr>
          <a:xfrm>
            <a:off x="640080" y="3886200"/>
            <a:ext cx="3657600" cy="365760"/>
          </a:xfrm>
          <a:prstGeom prst="rect">
            <a:avLst/>
          </a:prstGeom>
          <a:noFill/>
          <a:ln/>
        </p:spPr>
        <p:txBody>
          <a:bodyPr wrap="square" lIns="0" tIns="0" rIns="0" bIns="0" rtlCol="0" anchor="t"/>
          <a:lstStyle/>
          <a:p>
            <a:pPr indent="0" marL="0">
              <a:buNone/>
            </a:pPr>
            <a:r>
              <a:rPr lang="en-US" sz="1300" dirty="0">
                <a:solidFill>
                  <a:schemeClr val="tx2"/>
                </a:solidFill>
              </a:rPr>
              <a:t>Critic sends it back, fraud score, human review</a:t>
            </a:r>
            <a:endParaRPr lang="en-US" sz="1300" dirty="0"/>
          </a:p>
        </p:txBody>
      </p:sp>
      <p:sp>
        <p:nvSpPr>
          <p:cNvPr id="21" name="Demo card 4"/>
          <p:cNvSpPr/>
          <p:nvPr/>
        </p:nvSpPr>
        <p:spPr>
          <a:xfrm>
            <a:off x="4663440" y="2880360"/>
            <a:ext cx="4023360" cy="1463040"/>
          </a:xfrm>
          <a:prstGeom prst="roundRect">
            <a:avLst>
              <a:gd name="adj" fmla="val 5000"/>
            </a:avLst>
          </a:prstGeom>
          <a:solidFill>
            <a:schemeClr val="bg2"/>
          </a:solidFill>
          <a:ln/>
        </p:spPr>
      </p:sp>
      <p:sp>
        <p:nvSpPr>
          <p:cNvPr id="22" name="Demo id 4"/>
          <p:cNvSpPr txBox="1"/>
          <p:nvPr/>
        </p:nvSpPr>
        <p:spPr>
          <a:xfrm>
            <a:off x="4846320" y="3017520"/>
            <a:ext cx="2377440" cy="274320"/>
          </a:xfrm>
          <a:prstGeom prst="rect">
            <a:avLst/>
          </a:prstGeom>
          <a:noFill/>
          <a:ln/>
        </p:spPr>
        <p:txBody>
          <a:bodyPr wrap="square" lIns="0" tIns="0" rIns="0" bIns="0" rtlCol="0" anchor="t"/>
          <a:lstStyle/>
          <a:p>
            <a:pPr indent="0" marL="0">
              <a:buNone/>
            </a:pPr>
            <a:r>
              <a:rPr lang="en-US" sz="1200" b="1" dirty="0">
                <a:solidFill>
                  <a:schemeClr val="tx2"/>
                </a:solidFill>
              </a:rPr>
              <a:t>CLM-26-0003 + error</a:t>
            </a:r>
            <a:endParaRPr lang="en-US" sz="1200" dirty="0"/>
          </a:p>
        </p:txBody>
      </p:sp>
      <p:sp>
        <p:nvSpPr>
          <p:cNvPr id="23" name="Demo outcome 4"/>
          <p:cNvSpPr/>
          <p:nvPr/>
        </p:nvSpPr>
        <p:spPr>
          <a:xfrm>
            <a:off x="7452360" y="2999232"/>
            <a:ext cx="1051560" cy="292608"/>
          </a:xfrm>
          <a:prstGeom prst="roundRect">
            <a:avLst>
              <a:gd name="adj" fmla="val 50000"/>
            </a:avLst>
          </a:prstGeom>
          <a:solidFill>
            <a:schemeClr val="accent4"/>
          </a:solidFill>
          <a:ln/>
        </p:spPr>
      </p:sp>
      <p:sp>
        <p:nvSpPr>
          <p:cNvPr id="24" name="Demo outcome label 4"/>
          <p:cNvSpPr txBox="1"/>
          <p:nvPr/>
        </p:nvSpPr>
        <p:spPr>
          <a:xfrm>
            <a:off x="7452360" y="2999232"/>
            <a:ext cx="1051560" cy="292608"/>
          </a:xfrm>
          <a:prstGeom prst="rect">
            <a:avLst/>
          </a:prstGeom>
          <a:noFill/>
          <a:ln/>
        </p:spPr>
        <p:txBody>
          <a:bodyPr wrap="square" lIns="0" tIns="0" rIns="0" bIns="0" rtlCol="0" anchor="ctr"/>
          <a:lstStyle/>
          <a:p>
            <a:pPr algn="ctr" indent="0" marL="0">
              <a:buNone/>
            </a:pPr>
            <a:r>
              <a:rPr lang="en-US" sz="1100" b="1" dirty="0">
                <a:solidFill>
                  <a:schemeClr val="bg1"/>
                </a:solidFill>
              </a:rPr>
              <a:t>APPROVE</a:t>
            </a:r>
            <a:endParaRPr lang="en-US" sz="1100" dirty="0"/>
          </a:p>
        </p:txBody>
      </p:sp>
      <p:sp>
        <p:nvSpPr>
          <p:cNvPr id="25" name="Demo headline 4"/>
          <p:cNvSpPr txBox="1"/>
          <p:nvPr/>
        </p:nvSpPr>
        <p:spPr>
          <a:xfrm>
            <a:off x="4846320" y="3383280"/>
            <a:ext cx="3657600" cy="502920"/>
          </a:xfrm>
          <a:prstGeom prst="rect">
            <a:avLst/>
          </a:prstGeom>
          <a:noFill/>
          <a:ln/>
        </p:spPr>
        <p:txBody>
          <a:bodyPr wrap="square" lIns="0" tIns="0" rIns="0" bIns="0" rtlCol="0" anchor="t"/>
          <a:lstStyle/>
          <a:p>
            <a:pPr indent="0" marL="0">
              <a:buNone/>
            </a:pPr>
            <a:r>
              <a:rPr lang="en-US" sz="1600" b="1" dirty="0">
                <a:solidFill>
                  <a:schemeClr val="tx1"/>
                </a:solidFill>
              </a:rPr>
              <a:t>Executor overpays by 15% on purpose</a:t>
            </a:r>
            <a:endParaRPr lang="en-US" sz="1600" dirty="0"/>
          </a:p>
        </p:txBody>
      </p:sp>
      <p:sp>
        <p:nvSpPr>
          <p:cNvPr id="26" name="Demo detail 4"/>
          <p:cNvSpPr txBox="1"/>
          <p:nvPr/>
        </p:nvSpPr>
        <p:spPr>
          <a:xfrm>
            <a:off x="4846320" y="3886200"/>
            <a:ext cx="3657600" cy="365760"/>
          </a:xfrm>
          <a:prstGeom prst="rect">
            <a:avLst/>
          </a:prstGeom>
          <a:noFill/>
          <a:ln/>
        </p:spPr>
        <p:txBody>
          <a:bodyPr wrap="square" lIns="0" tIns="0" rIns="0" bIns="0" rtlCol="0" anchor="t"/>
          <a:lstStyle/>
          <a:p>
            <a:pPr indent="0" marL="0">
              <a:buNone/>
            </a:pPr>
            <a:r>
              <a:rPr lang="en-US" sz="1300" dirty="0">
                <a:solidFill>
                  <a:schemeClr val="tx2"/>
                </a:solidFill>
              </a:rPr>
              <a:t>Critic catches it, recomputes, passes</a:t>
            </a:r>
            <a:endParaRPr lang="en-US" sz="13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777240"/>
          </a:xfrm>
          <a:prstGeom prst="rect">
            <a:avLst/>
          </a:prstGeom>
          <a:noFill/>
          <a:ln/>
        </p:spPr>
        <p:txBody>
          <a:bodyPr wrap="square" lIns="0" tIns="0" rIns="0" bIns="0" rtlCol="0" anchor="t"/>
          <a:lstStyle/>
          <a:p>
            <a:pPr algn="l" indent="0" marL="0">
              <a:buNone/>
            </a:pPr>
            <a:r>
              <a:rPr lang="en-US" sz="2800" b="1" dirty="0">
                <a:solidFill>
                  <a:schemeClr val="tx1"/>
                </a:solidFill>
              </a:rPr>
              <a:t>Appendix: full architecture diagram</a:t>
            </a:r>
            <a:endParaRPr lang="en-US" sz="2800" dirty="0"/>
          </a:p>
        </p:txBody>
      </p:sp>
      <p:pic>
        <p:nvPicPr>
          <p:cNvPr id="3" name="Architecture diagram" descr="Architecture of the five-agent claims pipeline with a Critic to Planner feedback loop">    </p:cNvPr>
          <p:cNvPicPr>
            <a:picLocks noChangeAspect="1"/>
          </p:cNvPicPr>
          <p:nvPr/>
        </p:nvPicPr>
        <p:blipFill>
          <a:blip r:embed="rId1"/>
          <a:stretch>
            <a:fillRect/>
          </a:stretch>
        </p:blipFill>
        <p:spPr>
          <a:xfrm>
            <a:off x="1594884" y="1051560"/>
            <a:ext cx="5954233" cy="3657600"/>
          </a:xfrm>
          <a:prstGeom prst="rect">
            <a:avLst/>
          </a:prstGeom>
        </p:spPr>
      </p:pic>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Claims Agent">
  <a:themeElements>
    <a:clrScheme name="Claims Agent">
      <a:dk1>
        <a:srgbClr val="12263A"/>
      </a:dk1>
      <a:lt1>
        <a:srgbClr val="FFFFFF"/>
      </a:lt1>
      <a:dk2>
        <a:srgbClr val="0B4F5C"/>
      </a:dk2>
      <a:lt2>
        <a:srgbClr val="EDF3F5"/>
      </a:lt2>
      <a:accent1>
        <a:srgbClr val="0F766E"/>
      </a:accent1>
      <a:accent2>
        <a:srgbClr val="E8590C"/>
      </a:accent2>
      <a:accent3>
        <a:srgbClr val="3B5BDB"/>
      </a:accent3>
      <a:accent4>
        <a:srgbClr val="2F9E44"/>
      </a:accent4>
      <a:accent5>
        <a:srgbClr val="C92A2A"/>
      </a:accent5>
      <a:accent6>
        <a:srgbClr val="7048E8"/>
      </a:accent6>
      <a:hlink>
        <a:srgbClr val="0F766E"/>
      </a:hlink>
      <a:folHlink>
        <a:srgbClr val="7048E8"/>
      </a:folHlink>
    </a:clrScheme>
    <a:fontScheme name="Claims Age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Claims Adjudication Agent</dc:title>
  <dc:subject>CA-3 Agentic AI proof of concept</dc:subject>
  <dc:creator>Harsh Salunkhe, Dharna Sharma</dc:creator>
  <cp:lastModifiedBy>Harsh Salunkhe, Dharna Sharma</cp:lastModifiedBy>
  <cp:revision>1</cp:revision>
  <dcterms:created xsi:type="dcterms:W3CDTF">2026-10-19T18:50:30Z</dcterms:created>
  <dcterms:modified xsi:type="dcterms:W3CDTF">2026-10-19T18:50:30Z</dcterms:modified>
</cp:coreProperties>
</file>